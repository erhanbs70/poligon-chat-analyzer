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1"/>
  </p:notesMasterIdLst>
  <p:handoutMasterIdLst>
    <p:handoutMasterId r:id="rId12"/>
  </p:handoutMasterIdLst>
  <p:sldIdLst>
    <p:sldId id="260" r:id="rId2"/>
    <p:sldId id="269" r:id="rId3"/>
    <p:sldId id="258" r:id="rId4"/>
    <p:sldId id="268" r:id="rId5"/>
    <p:sldId id="261" r:id="rId6"/>
    <p:sldId id="256" r:id="rId7"/>
    <p:sldId id="263" r:id="rId8"/>
    <p:sldId id="26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4794B59-B17A-4C71-A66A-F8BDC437409A}">
          <p14:sldIdLst>
            <p14:sldId id="260"/>
            <p14:sldId id="269"/>
            <p14:sldId id="258"/>
            <p14:sldId id="268"/>
            <p14:sldId id="261"/>
            <p14:sldId id="256"/>
            <p14:sldId id="263"/>
          </p14:sldIdLst>
        </p14:section>
        <p14:section name="Untitled Section" id="{3AF6E42E-D35F-42A9-B282-A72D0D982A79}">
          <p14:sldIdLst>
            <p14:sldId id="265"/>
            <p14:sldId id="25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bsabri" initials="t" lastIdx="1" clrIdx="0">
    <p:extLst>
      <p:ext uri="{19B8F6BF-5375-455C-9EA6-DF929625EA0E}">
        <p15:presenceInfo xmlns:p15="http://schemas.microsoft.com/office/powerpoint/2012/main" userId="S-1-5-21-3398917992-3443651213-3871913328-3087" providerId="AD"/>
      </p:ext>
    </p:extLst>
  </p:cmAuthor>
  <p:cmAuthor id="2" name="Erhan" initials="E" lastIdx="1" clrIdx="1">
    <p:extLst>
      <p:ext uri="{19B8F6BF-5375-455C-9EA6-DF929625EA0E}">
        <p15:presenceInfo xmlns:p15="http://schemas.microsoft.com/office/powerpoint/2012/main" userId="S-1-5-21-3398917992-3443651213-3871913328-2132" providerId="AD"/>
      </p:ext>
    </p:extLst>
  </p:cmAuthor>
  <p:cmAuthor id="3" name="Beyza" initials="B" lastIdx="1" clrIdx="2">
    <p:extLst>
      <p:ext uri="{19B8F6BF-5375-455C-9EA6-DF929625EA0E}">
        <p15:presenceInfo xmlns:p15="http://schemas.microsoft.com/office/powerpoint/2012/main" userId="S-1-5-21-3398917992-3443651213-3871913328-1487" providerId="AD"/>
      </p:ext>
    </p:extLst>
  </p:cmAuthor>
  <p:cmAuthor id="4" name="BPO-9" initials="B" lastIdx="6" clrIdx="3">
    <p:extLst>
      <p:ext uri="{19B8F6BF-5375-455C-9EA6-DF929625EA0E}">
        <p15:presenceInfo xmlns:p15="http://schemas.microsoft.com/office/powerpoint/2012/main" userId="BPO-9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CC33"/>
    <a:srgbClr val="C49F00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24" autoAdjust="0"/>
    <p:restoredTop sz="94687" autoAdjust="0"/>
  </p:normalViewPr>
  <p:slideViewPr>
    <p:cSldViewPr snapToGrid="0">
      <p:cViewPr varScale="1">
        <p:scale>
          <a:sx n="106" d="100"/>
          <a:sy n="106" d="100"/>
        </p:scale>
        <p:origin x="720" y="12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64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handoutMaster" Target="handoutMasters/handoutMaster1.xml"/><Relationship Id="rId13" Type="http://schemas.openxmlformats.org/officeDocument/2006/relationships/commentAuthors" Target="commentAuthors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AAFB28B-3112-0564-E20D-407C9BBD246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928AA5-19B6-7882-EF20-76A0E9C2272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471C40-3D60-4EEE-9476-FAC168200B93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530506-353C-38D6-13EE-223B4316F8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266FAD-40EE-E941-1387-0DECEFD999F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19FBC1-E320-4547-B793-E0F31E0D3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1435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EF43B6-ADC6-40F6-994E-F2B50DDA6FE1}" type="datetimeFigureOut">
              <a:rPr lang="tr-TR" smtClean="0"/>
              <a:t>7.07.2026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F08953-659A-4F40-A6F7-8D18828E9D5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12272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01A29-BD88-C46C-E6E3-80BE8D4A6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615417-E261-E0EC-11A3-D1E3A494B5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92D5AE-BA6F-F595-74F9-9B4906FEC3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1D80BA-69E7-E615-E016-ED3362C24F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F08953-659A-4F40-A6F7-8D18828E9D53}" type="slidenum">
              <a:rPr lang="tr-TR" smtClean="0"/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7039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8D19D-9876-191F-C4E5-369EE99AC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C4A74B-783A-6286-4935-C1E2D394F7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0A3B3E-3D35-8793-C2F7-3FA56774CC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B0765A-6779-713F-100E-EC54BA360F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F08953-659A-4F40-A6F7-8D18828E9D53}" type="slidenum">
              <a:rPr lang="tr-TR" smtClean="0"/>
              <a:t>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652129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F08953-659A-4F40-A6F7-8D18828E9D53}" type="slidenum">
              <a:rPr lang="tr-TR" smtClean="0"/>
              <a:t>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70908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FF910-BD48-87B5-C5C3-76284EC77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8F6DC6-7AFC-A94B-D7E7-F2F01C7CB2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367318-AB00-FB17-7299-0638C2EEA0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2039F4-2FF7-B874-1C6F-9ACC96A550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F08953-659A-4F40-A6F7-8D18828E9D53}" type="slidenum">
              <a:rPr lang="tr-TR" smtClean="0"/>
              <a:t>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008625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21A80-8DCF-7C47-BD4D-E1EC54ABE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D3576F-B033-2179-9B73-27152118F6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8232A8-07A5-4A61-04B2-8E72C41D5A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4B1ADF-F6F0-3796-8E16-83F489194D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F08953-659A-4F40-A6F7-8D18828E9D53}" type="slidenum">
              <a:rPr lang="tr-TR" smtClean="0"/>
              <a:t>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50516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F08953-659A-4F40-A6F7-8D18828E9D53}" type="slidenum">
              <a:rPr lang="tr-TR" smtClean="0"/>
              <a:t>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0067356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80115-182B-4806-AF9C-E6569CE08E03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E1409-2C92-465E-A3B9-F35835A6A01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3533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80115-182B-4806-AF9C-E6569CE08E03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E1409-2C92-465E-A3B9-F35835A6A0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776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80115-182B-4806-AF9C-E6569CE08E03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E1409-2C92-465E-A3B9-F35835A6A01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1697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80115-182B-4806-AF9C-E6569CE08E03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E1409-2C92-465E-A3B9-F35835A6A0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243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80115-182B-4806-AF9C-E6569CE08E03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E1409-2C92-465E-A3B9-F35835A6A0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798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80115-182B-4806-AF9C-E6569CE08E03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E1409-2C92-465E-A3B9-F35835A6A0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285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80115-182B-4806-AF9C-E6569CE08E03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E1409-2C92-465E-A3B9-F35835A6A0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81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0880115-182B-4806-AF9C-E6569CE08E03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0CE1409-2C92-465E-A3B9-F35835A6A0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867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80115-182B-4806-AF9C-E6569CE08E03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E1409-2C92-465E-A3B9-F35835A6A0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537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80115-182B-4806-AF9C-E6569CE08E03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E1409-2C92-465E-A3B9-F35835A6A0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81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80115-182B-4806-AF9C-E6569CE08E03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E1409-2C92-465E-A3B9-F35835A6A0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48657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0880115-182B-4806-AF9C-E6569CE08E03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0CE1409-2C92-465E-A3B9-F35835A6A01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539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1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10.png"/><Relationship Id="rId7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1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12.png"/><Relationship Id="rId6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3.png"/><Relationship Id="rId6" Type="http://schemas.openxmlformats.org/officeDocument/2006/relationships/image" Target="../media/image2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8.png"/><Relationship Id="rId7" Type="http://schemas.openxmlformats.org/officeDocument/2006/relationships/image" Target="../media/image14.png"/><Relationship Id="rId8" Type="http://schemas.openxmlformats.org/officeDocument/2006/relationships/image" Target="../media/image1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9568A-8F6A-20E8-EBF2-C73E8C479F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1259380"/>
            <a:ext cx="10058400" cy="306573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FE5DC0-992F-F69E-CA6C-9A42817A1F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>
              <a:lnSpc>
                <a:spcPct val="200000"/>
              </a:lnSpc>
            </a:pPr>
            <a:r>
              <a:rPr lang="tr-TR" b="1" dirty="0">
                <a:solidFill>
                  <a:schemeClr val="tx1"/>
                </a:solidFill>
                <a:latin typeface="Slack-Lato"/>
              </a:rPr>
              <a:t>CS TEAM_DAILY_CHAT_STATS_06.07.2026</a:t>
            </a:r>
            <a:r>
              <a:rPr lang="tr-TR" b="1" dirty="0" err="1">
                <a:solidFill>
                  <a:schemeClr val="tx1"/>
                </a:solidFill>
                <a:latin typeface="Slack-Lato"/>
              </a:rPr>
              <a:t/>
            </a:r>
            <a:r>
              <a:rPr lang="en-US" b="1" i="0" dirty="0">
                <a:solidFill>
                  <a:schemeClr val="tx1"/>
                </a:solidFill>
                <a:effectLst/>
                <a:latin typeface="Slack-Lato"/>
              </a:rPr>
              <a:t/>
            </a:r>
            <a:r>
              <a:rPr lang="en-US" b="1" i="0" dirty="0" err="1">
                <a:solidFill>
                  <a:schemeClr val="tx1"/>
                </a:solidFill>
                <a:effectLst/>
                <a:latin typeface="Slack-Lato"/>
              </a:rPr>
              <a:t/>
            </a:r>
            <a:r>
              <a:rPr lang="en-US" b="1" i="0" dirty="0">
                <a:solidFill>
                  <a:schemeClr val="tx1"/>
                </a:solidFill>
                <a:effectLst/>
                <a:latin typeface="Slack-Lato"/>
              </a:rPr>
              <a:t/>
            </a:r>
            <a:r>
              <a:rPr lang="tr-TR" b="1" i="0" dirty="0">
                <a:solidFill>
                  <a:schemeClr val="tx1"/>
                </a:solidFill>
                <a:effectLst/>
                <a:latin typeface="Slack-Lato"/>
              </a:rPr>
              <a:t/>
            </a:r>
            <a:r>
              <a:rPr lang="en-US" b="1" i="0" dirty="0">
                <a:solidFill>
                  <a:schemeClr val="tx1"/>
                </a:solidFill>
                <a:effectLst/>
                <a:latin typeface="Slack-Lato"/>
              </a:rPr>
              <a:t/>
            </a:r>
            <a:r>
              <a:rPr lang="tr-TR" b="1" dirty="0">
                <a:solidFill>
                  <a:schemeClr val="tx1"/>
                </a:solidFill>
                <a:latin typeface="Slack-Lato"/>
              </a:rPr>
              <a:t/>
            </a:r>
            <a:endParaRPr lang="en-US" b="1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3F3363-85A6-46F2-3D0D-ED4911DAE5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897" y="1128873"/>
            <a:ext cx="10768206" cy="3326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186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5F54F-A9B5-48A9-C7D6-73BA552A2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1752BE1-57AD-F7EE-5BE6-53A5B702390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68070" y="1098977"/>
            <a:ext cx="3151187" cy="350838"/>
          </a:xfrm>
        </p:spPr>
        <p:txBody>
          <a:bodyPr>
            <a:normAutofit/>
          </a:bodyPr>
          <a:lstStyle/>
          <a:p>
            <a:r>
              <a:rPr lang="tr-TR" sz="1600" b="1" dirty="0"/>
              <a:t>Missed Chats</a:t>
            </a:r>
            <a:endParaRPr lang="en-US" sz="1600" b="1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F1D639DB-A6C3-C59A-71C7-1090F11B05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C2E73D-5517-D129-E75C-6C5AE9B56BD8}"/>
              </a:ext>
            </a:extLst>
          </p:cNvPr>
          <p:cNvSpPr txBox="1"/>
          <p:nvPr/>
        </p:nvSpPr>
        <p:spPr>
          <a:xfrm>
            <a:off x="9832063" y="1390434"/>
            <a:ext cx="225514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Explanation;</a:t>
            </a:r>
            <a:endParaRPr lang="tr-TR" sz="1200" b="1" dirty="0"/>
          </a:p>
          <a:p>
            <a:r>
              <a:rPr lang="tr-TR" sz="1200" b="1" dirty="0"/>
              <a:t>      - Total Chats: 5.486</a:t>
            </a:r>
            <a:endParaRPr lang="tr-TR" sz="1200" dirty="0"/>
          </a:p>
          <a:p>
            <a:r>
              <a:rPr lang="tr-TR" sz="1200" b="1" dirty="0"/>
              <a:t>      - Total Served Chats: 5.348</a:t>
            </a:r>
            <a:endParaRPr lang="tr-TR" sz="1200" dirty="0"/>
          </a:p>
          <a:p>
            <a:pPr>
              <a:buNone/>
            </a:pPr>
            <a:r>
              <a:rPr lang="tr-TR" sz="1200" b="1" dirty="0"/>
              <a:t>      - Total Missed Chats:</a:t>
            </a:r>
            <a:r>
              <a:rPr lang="en-US" sz="1200" b="1" dirty="0"/>
              <a:t> </a:t>
            </a:r>
            <a:r>
              <a:rPr lang="tr-TR" sz="1200" b="1" dirty="0"/>
              <a:t>138</a:t>
            </a:r>
            <a:br>
              <a:rPr lang="tr-TR" sz="1200" b="1" dirty="0"/>
            </a:br>
            <a:r>
              <a:rPr lang="tr-TR" sz="1200" b="1" dirty="0"/>
              <a:t>      - </a:t>
            </a:r>
            <a:r>
              <a:rPr lang="en-US" sz="1200" b="1" dirty="0"/>
              <a:t>Success</a:t>
            </a:r>
            <a:r>
              <a:rPr lang="tr-TR" sz="1200" b="1" dirty="0"/>
              <a:t>: 97,48</a:t>
            </a:r>
            <a:r>
              <a:rPr lang="tr-TR" sz="1200" dirty="0"/>
              <a:t>%</a:t>
            </a:r>
          </a:p>
          <a:p>
            <a:br>
              <a:rPr lang="tr-TR" sz="1200" b="1" dirty="0">
                <a:effectLst/>
              </a:rPr>
            </a:br>
            <a:r>
              <a:rPr lang="en-US" sz="1200" dirty="0">
                <a:effectLst/>
              </a:rPr>
              <a:t>En yüksek missed chat sayısı 01:00–02:00 arasında görüldü (39 chat kaçtı, kabul oranı %89,01). Olayın sebebini buraya ekleyin.</a:t>
            </a:r>
            <a:br>
              <a:rPr lang="tr-TR" sz="1200" dirty="0">
                <a:effectLst/>
              </a:rPr>
            </a:br>
            <a:br>
              <a:rPr lang="tr-TR" sz="1200" dirty="0">
                <a:effectLst/>
              </a:rPr>
            </a:br>
            <a:r>
              <a:rPr lang="en-US" sz="1200" dirty="0">
                <a:effectLst/>
              </a:rPr>
              <a:t/>
            </a:r>
            <a:r>
              <a:rPr lang="tr-TR" sz="1200" dirty="0">
                <a:effectLst/>
              </a:rPr>
              <a:t/>
            </a:r>
            <a:r>
              <a:rPr lang="en-US" sz="1200" dirty="0">
                <a:effectLst/>
              </a:rPr>
              <a:t/>
            </a:r>
            <a:endParaRPr lang="en-US" sz="1200" dirty="0"/>
          </a:p>
          <a:p>
            <a:endParaRPr lang="en-US" sz="1200" dirty="0"/>
          </a:p>
          <a:p>
            <a:pPr>
              <a:buNone/>
            </a:pPr>
            <a:endParaRPr lang="tr-TR" sz="1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185DB6-46F1-8373-B85F-61847FAEB9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3104" y="5790373"/>
            <a:ext cx="1228896" cy="106679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DF6A355-BE80-CD2C-C5DE-FB4C9AF5F9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9750" y="253133"/>
            <a:ext cx="2255145" cy="53912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D646C32-3399-D4FB-6E74-93F26CF3C1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66" y="171000"/>
            <a:ext cx="2420020" cy="62315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28A96FF3-C615-1B0D-E90C-42C84A4FD64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934" y="51305"/>
            <a:ext cx="2703776" cy="86611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6037BAF-9AE6-101B-001B-27B29E4F9BC3}"/>
              </a:ext>
            </a:extLst>
          </p:cNvPr>
          <p:cNvSpPr txBox="1"/>
          <p:nvPr/>
        </p:nvSpPr>
        <p:spPr>
          <a:xfrm>
            <a:off x="0" y="4960642"/>
            <a:ext cx="1810693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0" dirty="0">
                <a:effectLst/>
                <a:latin typeface="Arial" panose="020B0604020202020204" pitchFamily="34" charset="0"/>
              </a:rPr>
              <a:t>Between: </a:t>
            </a:r>
            <a:r>
              <a:rPr lang="tr-TR" sz="1000" dirty="0">
                <a:latin typeface="Arial" panose="020B0604020202020204" pitchFamily="34" charset="0"/>
              </a:rPr>
              <a:t>01</a:t>
            </a:r>
            <a:r>
              <a:rPr lang="en-US" sz="1000" b="0" i="0" dirty="0">
                <a:effectLst/>
                <a:latin typeface="Arial" panose="020B0604020202020204" pitchFamily="34" charset="0"/>
              </a:rPr>
              <a:t>:00 – </a:t>
            </a:r>
            <a:r>
              <a:rPr lang="tr-TR" sz="1000" b="0" i="0" dirty="0">
                <a:effectLst/>
                <a:latin typeface="Arial" panose="020B0604020202020204" pitchFamily="34" charset="0"/>
              </a:rPr>
              <a:t>02</a:t>
            </a:r>
            <a:r>
              <a:rPr lang="en-US" sz="1000" b="0" i="0" dirty="0">
                <a:effectLst/>
                <a:latin typeface="Arial" panose="020B0604020202020204" pitchFamily="34" charset="0"/>
              </a:rPr>
              <a:t>:00</a:t>
            </a:r>
            <a:br>
              <a:rPr lang="en-US" sz="1000" dirty="0"/>
            </a:br>
            <a:r>
              <a:rPr lang="en-US" sz="1000" b="0" i="0" dirty="0">
                <a:effectLst/>
                <a:latin typeface="Arial" panose="020B0604020202020204" pitchFamily="34" charset="0"/>
              </a:rPr>
              <a:t>Total chats:</a:t>
            </a:r>
            <a:r>
              <a:rPr lang="tr-TR" sz="1000" b="0" i="0" dirty="0">
                <a:effectLst/>
                <a:latin typeface="Arial" panose="020B0604020202020204" pitchFamily="34" charset="0"/>
              </a:rPr>
              <a:t> 356</a:t>
            </a:r>
            <a:br>
              <a:rPr lang="en-US" sz="1000" dirty="0"/>
            </a:br>
            <a:r>
              <a:rPr lang="en-US" sz="1000" b="0" i="0" dirty="0">
                <a:effectLst/>
                <a:latin typeface="Arial" panose="020B0604020202020204" pitchFamily="34" charset="0"/>
              </a:rPr>
              <a:t>Served chats: </a:t>
            </a:r>
            <a:r>
              <a:rPr lang="tr-TR" sz="1000" b="0" i="0" dirty="0">
                <a:effectLst/>
                <a:latin typeface="Arial" panose="020B0604020202020204" pitchFamily="34" charset="0"/>
              </a:rPr>
              <a:t>317</a:t>
            </a:r>
            <a:br>
              <a:rPr lang="en-US" sz="1000" dirty="0"/>
            </a:br>
            <a:r>
              <a:rPr lang="en-US" sz="1000" b="0" i="0" dirty="0">
                <a:effectLst/>
                <a:latin typeface="Arial" panose="020B0604020202020204" pitchFamily="34" charset="0"/>
              </a:rPr>
              <a:t>Missed chats: </a:t>
            </a:r>
            <a:r>
              <a:rPr lang="tr-TR" sz="1000" dirty="0">
                <a:latin typeface="Arial" panose="020B0604020202020204" pitchFamily="34" charset="0"/>
              </a:rPr>
              <a:t>39</a:t>
            </a:r>
            <a:br>
              <a:rPr lang="en-US" sz="1000" dirty="0"/>
            </a:br>
            <a:r>
              <a:rPr lang="en-US" sz="1000" b="0" i="0" dirty="0">
                <a:effectLst/>
                <a:latin typeface="Arial" panose="020B0604020202020204" pitchFamily="34" charset="0"/>
              </a:rPr>
              <a:t>Success: </a:t>
            </a:r>
            <a:r>
              <a:rPr lang="tr-TR" sz="1000" b="0" i="0" dirty="0">
                <a:effectLst/>
                <a:latin typeface="Arial" panose="020B0604020202020204" pitchFamily="34" charset="0"/>
              </a:rPr>
              <a:t>89,01</a:t>
            </a:r>
            <a:br>
              <a:rPr lang="en-US" sz="1000" dirty="0"/>
            </a:br>
            <a:r>
              <a:rPr lang="en-US" sz="1000" b="0" i="0" dirty="0">
                <a:effectLst/>
                <a:latin typeface="Arial" panose="020B0604020202020204" pitchFamily="34" charset="0"/>
              </a:rPr>
              <a:t>Available Agents: </a:t>
            </a:r>
            <a:r>
              <a:rPr lang="tr-TR" sz="1000" dirty="0">
                <a:latin typeface="Arial" panose="020B0604020202020204" pitchFamily="34" charset="0"/>
              </a:rPr>
              <a:t>8</a:t>
            </a:r>
            <a:br>
              <a:rPr lang="en-US" sz="1000" dirty="0"/>
            </a:br>
            <a:r>
              <a:rPr lang="en-US" sz="1000" b="0" i="0" dirty="0">
                <a:effectLst/>
                <a:latin typeface="Arial" panose="020B0604020202020204" pitchFamily="34" charset="0"/>
              </a:rPr>
              <a:t>Avg. Chat per agent/h:</a:t>
            </a:r>
            <a:r>
              <a:rPr lang="tr-TR" sz="1000" b="0" i="0" dirty="0">
                <a:effectLst/>
                <a:latin typeface="Arial" panose="020B0604020202020204" pitchFamily="34" charset="0"/>
              </a:rPr>
              <a:t> </a:t>
            </a:r>
            <a:r>
              <a:rPr lang="tr-TR" sz="1000" dirty="0">
                <a:latin typeface="Arial" panose="020B0604020202020204" pitchFamily="34" charset="0"/>
              </a:rPr>
              <a:t>44</a:t>
            </a:r>
            <a:r>
              <a:rPr lang="tr-TR" sz="1000" b="0" i="0" dirty="0">
                <a:effectLst/>
                <a:latin typeface="Arial" panose="020B0604020202020204" pitchFamily="34" charset="0"/>
              </a:rPr>
              <a:t/>
            </a:r>
            <a:endParaRPr lang="en-US" sz="1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0861F8-1430-E4E2-7AF4-49C0C3125847}"/>
              </a:ext>
            </a:extLst>
          </p:cNvPr>
          <p:cNvSpPr txBox="1"/>
          <p:nvPr/>
        </p:nvSpPr>
        <p:spPr>
          <a:xfrm>
            <a:off x="1910281" y="4960641"/>
            <a:ext cx="185596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</a:rPr>
              <a:t>Between: </a:t>
            </a:r>
            <a:r>
              <a:rPr lang="tr-TR" sz="1000" dirty="0">
                <a:latin typeface="Arial" panose="020B0604020202020204" pitchFamily="34" charset="0"/>
              </a:rPr>
              <a:t>20</a:t>
            </a:r>
            <a:r>
              <a:rPr lang="en-US" sz="1000" dirty="0">
                <a:latin typeface="Arial" panose="020B0604020202020204" pitchFamily="34" charset="0"/>
              </a:rPr>
              <a:t>:00 – </a:t>
            </a:r>
            <a:r>
              <a:rPr lang="tr-TR" sz="1000" dirty="0">
                <a:latin typeface="Arial" panose="020B0604020202020204" pitchFamily="34" charset="0"/>
              </a:rPr>
              <a:t>21</a:t>
            </a:r>
            <a:r>
              <a:rPr lang="en-US" sz="1000" dirty="0">
                <a:latin typeface="Arial" panose="020B0604020202020204" pitchFamily="34" charset="0"/>
              </a:rPr>
              <a:t>:00</a:t>
            </a:r>
            <a:br>
              <a:rPr lang="en-US" sz="1000" dirty="0">
                <a:latin typeface="Arial" panose="020B0604020202020204" pitchFamily="34" charset="0"/>
              </a:rPr>
            </a:br>
            <a:r>
              <a:rPr lang="en-US" sz="1000" dirty="0">
                <a:latin typeface="Arial" panose="020B0604020202020204" pitchFamily="34" charset="0"/>
              </a:rPr>
              <a:t>Total chats:</a:t>
            </a:r>
            <a:r>
              <a:rPr lang="tr-TR" sz="1000" dirty="0">
                <a:latin typeface="Arial" panose="020B0604020202020204" pitchFamily="34" charset="0"/>
              </a:rPr>
              <a:t> 388</a:t>
            </a:r>
            <a:br>
              <a:rPr lang="en-US" sz="1000" dirty="0">
                <a:latin typeface="Arial" panose="020B0604020202020204" pitchFamily="34" charset="0"/>
              </a:rPr>
            </a:br>
            <a:r>
              <a:rPr lang="en-US" sz="1000" dirty="0">
                <a:latin typeface="Arial" panose="020B0604020202020204" pitchFamily="34" charset="0"/>
              </a:rPr>
              <a:t>Served chats: </a:t>
            </a:r>
            <a:r>
              <a:rPr lang="tr-TR" sz="1000" dirty="0">
                <a:latin typeface="Arial" panose="020B0604020202020204" pitchFamily="34" charset="0"/>
              </a:rPr>
              <a:t>353</a:t>
            </a:r>
            <a:br>
              <a:rPr lang="en-US" sz="1000" dirty="0">
                <a:latin typeface="Arial" panose="020B0604020202020204" pitchFamily="34" charset="0"/>
              </a:rPr>
            </a:br>
            <a:r>
              <a:rPr lang="en-US" sz="1000" dirty="0">
                <a:latin typeface="Arial" panose="020B0604020202020204" pitchFamily="34" charset="0"/>
              </a:rPr>
              <a:t>Missed chats: </a:t>
            </a:r>
            <a:r>
              <a:rPr lang="tr-TR" sz="1000" dirty="0">
                <a:latin typeface="Arial" panose="020B0604020202020204" pitchFamily="34" charset="0"/>
              </a:rPr>
              <a:t>35</a:t>
            </a:r>
            <a:br>
              <a:rPr lang="en-US" sz="1000" dirty="0">
                <a:latin typeface="Arial" panose="020B0604020202020204" pitchFamily="34" charset="0"/>
              </a:rPr>
            </a:br>
            <a:r>
              <a:rPr lang="en-US" sz="1000" dirty="0">
                <a:latin typeface="Arial" panose="020B0604020202020204" pitchFamily="34" charset="0"/>
              </a:rPr>
              <a:t>Success: </a:t>
            </a:r>
            <a:r>
              <a:rPr lang="tr-TR" sz="1000" dirty="0">
                <a:latin typeface="Arial" panose="020B0604020202020204" pitchFamily="34" charset="0"/>
              </a:rPr>
              <a:t>90,98</a:t>
            </a:r>
            <a:br>
              <a:rPr lang="en-US" sz="1000" dirty="0">
                <a:latin typeface="Arial" panose="020B0604020202020204" pitchFamily="34" charset="0"/>
              </a:rPr>
            </a:br>
            <a:r>
              <a:rPr lang="en-US" sz="1000" dirty="0">
                <a:latin typeface="Arial" panose="020B0604020202020204" pitchFamily="34" charset="0"/>
              </a:rPr>
              <a:t>Available Agents:</a:t>
            </a:r>
            <a:r>
              <a:rPr lang="tr-TR" sz="1000" dirty="0">
                <a:latin typeface="Arial" panose="020B0604020202020204" pitchFamily="34" charset="0"/>
              </a:rPr>
              <a:t>11</a:t>
            </a:r>
            <a:br>
              <a:rPr lang="en-US" sz="1000" dirty="0">
                <a:latin typeface="Arial" panose="020B0604020202020204" pitchFamily="34" charset="0"/>
              </a:rPr>
            </a:br>
            <a:r>
              <a:rPr lang="en-US" sz="1000" dirty="0">
                <a:latin typeface="Arial" panose="020B0604020202020204" pitchFamily="34" charset="0"/>
              </a:rPr>
              <a:t>Avg. Chat per agent/h:</a:t>
            </a:r>
            <a:r>
              <a:rPr lang="tr-TR" sz="1000" dirty="0">
                <a:latin typeface="Arial" panose="020B0604020202020204" pitchFamily="34" charset="0"/>
              </a:rPr>
              <a:t> 35</a:t>
            </a:r>
            <a:endParaRPr lang="en-US" sz="1000" dirty="0">
              <a:latin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201B22-D31F-45D9-7A32-9167BD10B3F1}"/>
              </a:ext>
            </a:extLst>
          </p:cNvPr>
          <p:cNvSpPr txBox="1"/>
          <p:nvPr/>
        </p:nvSpPr>
        <p:spPr>
          <a:xfrm>
            <a:off x="3766241" y="4960641"/>
            <a:ext cx="182793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</a:rPr>
              <a:t>Between: </a:t>
            </a:r>
            <a:r>
              <a:rPr lang="tr-TR" sz="1000" dirty="0">
                <a:latin typeface="Arial" panose="020B0604020202020204" pitchFamily="34" charset="0"/>
              </a:rPr>
              <a:t>21</a:t>
            </a:r>
            <a:r>
              <a:rPr lang="en-US" sz="1000" dirty="0">
                <a:latin typeface="Arial" panose="020B0604020202020204" pitchFamily="34" charset="0"/>
              </a:rPr>
              <a:t>:00 – </a:t>
            </a:r>
            <a:r>
              <a:rPr lang="tr-TR" sz="1000" dirty="0">
                <a:latin typeface="Arial" panose="020B0604020202020204" pitchFamily="34" charset="0"/>
              </a:rPr>
              <a:t>22</a:t>
            </a:r>
            <a:r>
              <a:rPr lang="en-US" sz="1000" dirty="0">
                <a:latin typeface="Arial" panose="020B0604020202020204" pitchFamily="34" charset="0"/>
              </a:rPr>
              <a:t>:00</a:t>
            </a:r>
            <a:br>
              <a:rPr lang="en-US" sz="1000" dirty="0">
                <a:latin typeface="Arial" panose="020B0604020202020204" pitchFamily="34" charset="0"/>
              </a:rPr>
            </a:br>
            <a:r>
              <a:rPr lang="en-US" sz="1000" dirty="0">
                <a:latin typeface="Arial" panose="020B0604020202020204" pitchFamily="34" charset="0"/>
              </a:rPr>
              <a:t>Total chats:</a:t>
            </a:r>
            <a:r>
              <a:rPr lang="tr-TR" sz="1000" dirty="0">
                <a:latin typeface="Arial" panose="020B0604020202020204" pitchFamily="34" charset="0"/>
              </a:rPr>
              <a:t> 435</a:t>
            </a:r>
            <a:br>
              <a:rPr lang="en-US" sz="1000" dirty="0">
                <a:latin typeface="Arial" panose="020B0604020202020204" pitchFamily="34" charset="0"/>
              </a:rPr>
            </a:br>
            <a:r>
              <a:rPr lang="en-US" sz="1000" dirty="0">
                <a:latin typeface="Arial" panose="020B0604020202020204" pitchFamily="34" charset="0"/>
              </a:rPr>
              <a:t>Served chats: </a:t>
            </a:r>
            <a:r>
              <a:rPr lang="tr-TR" sz="1000" dirty="0">
                <a:latin typeface="Arial" panose="020B0604020202020204" pitchFamily="34" charset="0"/>
              </a:rPr>
              <a:t>407</a:t>
            </a:r>
            <a:br>
              <a:rPr lang="en-US" sz="1000" dirty="0">
                <a:latin typeface="Arial" panose="020B0604020202020204" pitchFamily="34" charset="0"/>
              </a:rPr>
            </a:br>
            <a:r>
              <a:rPr lang="en-US" sz="1000" dirty="0">
                <a:latin typeface="Arial" panose="020B0604020202020204" pitchFamily="34" charset="0"/>
              </a:rPr>
              <a:t>Missed chats: </a:t>
            </a:r>
            <a:r>
              <a:rPr lang="tr-TR" sz="1000" dirty="0">
                <a:latin typeface="Arial" panose="020B0604020202020204" pitchFamily="34" charset="0"/>
              </a:rPr>
              <a:t>28</a:t>
            </a:r>
            <a:br>
              <a:rPr lang="en-US" sz="1000" dirty="0">
                <a:latin typeface="Arial" panose="020B0604020202020204" pitchFamily="34" charset="0"/>
              </a:rPr>
            </a:br>
            <a:r>
              <a:rPr lang="en-US" sz="1000" dirty="0">
                <a:latin typeface="Arial" panose="020B0604020202020204" pitchFamily="34" charset="0"/>
              </a:rPr>
              <a:t>Success: </a:t>
            </a:r>
            <a:r>
              <a:rPr lang="tr-TR" sz="1000" dirty="0">
                <a:latin typeface="Arial" panose="020B0604020202020204" pitchFamily="34" charset="0"/>
              </a:rPr>
              <a:t>93,56</a:t>
            </a:r>
            <a:br>
              <a:rPr lang="en-US" sz="1000" dirty="0">
                <a:latin typeface="Arial" panose="020B0604020202020204" pitchFamily="34" charset="0"/>
              </a:rPr>
            </a:br>
            <a:r>
              <a:rPr lang="en-US" sz="1000" dirty="0">
                <a:latin typeface="Arial" panose="020B0604020202020204" pitchFamily="34" charset="0"/>
              </a:rPr>
              <a:t>Available Agents:</a:t>
            </a:r>
            <a:r>
              <a:rPr lang="tr-TR" sz="1000" dirty="0">
                <a:latin typeface="Arial" panose="020B0604020202020204" pitchFamily="34" charset="0"/>
              </a:rPr>
              <a:t>12</a:t>
            </a:r>
            <a:br>
              <a:rPr lang="en-US" sz="1000" dirty="0">
                <a:latin typeface="Arial" panose="020B0604020202020204" pitchFamily="34" charset="0"/>
              </a:rPr>
            </a:br>
            <a:r>
              <a:rPr lang="en-US" sz="1000" dirty="0">
                <a:latin typeface="Arial" panose="020B0604020202020204" pitchFamily="34" charset="0"/>
              </a:rPr>
              <a:t>Avg. Chat per agent/h:</a:t>
            </a:r>
            <a:r>
              <a:rPr lang="tr-TR" sz="1000" dirty="0">
                <a:latin typeface="Arial" panose="020B0604020202020204" pitchFamily="34" charset="0"/>
              </a:rPr>
              <a:t> 36</a:t>
            </a:r>
            <a:endParaRPr lang="en-US" sz="1000" dirty="0">
              <a:latin typeface="Arial" panose="020B0604020202020204" pitchFamily="34" charset="0"/>
            </a:endParaRP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" y="1389888"/>
            <a:ext cx="9720072" cy="3264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233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65EB3-2DC0-F011-D90C-10093A221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5453" y="1128230"/>
            <a:ext cx="4619289" cy="660922"/>
          </a:xfrm>
        </p:spPr>
        <p:txBody>
          <a:bodyPr>
            <a:noAutofit/>
          </a:bodyPr>
          <a:lstStyle/>
          <a:p>
            <a:r>
              <a:rPr lang="tr-TR" sz="2000" b="1" dirty="0"/>
              <a:t>Response Time and Chat Duration </a:t>
            </a:r>
            <a:br>
              <a:rPr lang="tr-TR" sz="2000" dirty="0"/>
            </a:br>
            <a:endParaRPr lang="en-US" sz="2000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356443A-965A-A022-4F9D-58C8A341B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163197-E227-5EC8-027F-78C1EF5F8C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3104" y="5705314"/>
            <a:ext cx="1228896" cy="115268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1DF7B45-0C4B-C668-EB1A-D18CB9D2B0AD}"/>
              </a:ext>
            </a:extLst>
          </p:cNvPr>
          <p:cNvSpPr txBox="1"/>
          <p:nvPr/>
        </p:nvSpPr>
        <p:spPr>
          <a:xfrm>
            <a:off x="9867922" y="1789152"/>
            <a:ext cx="240556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Explanation</a:t>
            </a:r>
            <a:br>
              <a:rPr lang="tr-TR" sz="1400" b="1" dirty="0"/>
            </a:br>
            <a:endParaRPr lang="en-US" sz="1400" b="1" dirty="0"/>
          </a:p>
          <a:p>
            <a:pPr marL="0" indent="0">
              <a:spcBef>
                <a:spcPts val="0"/>
              </a:spcBef>
              <a:buSzPts val="2000"/>
              <a:buNone/>
            </a:pPr>
            <a:r>
              <a:rPr lang="tr-TR" sz="1400" b="1" dirty="0" err="1"/>
              <a:t>Avg</a:t>
            </a:r>
            <a:r>
              <a:rPr lang="tr-TR" sz="1400" b="1" dirty="0"/>
              <a:t>. response time: 41</a:t>
            </a:r>
            <a:r>
              <a:rPr lang="en-US" sz="1400" b="1" dirty="0"/>
              <a:t>s</a:t>
            </a:r>
            <a:br>
              <a:rPr lang="tr-TR" sz="1400" b="1" dirty="0"/>
            </a:br>
            <a:r>
              <a:rPr lang="tr-TR" sz="1400" b="1" dirty="0"/>
              <a:t>Avg. First response time: 36s</a:t>
            </a:r>
            <a:br>
              <a:rPr lang="tr-TR" sz="1400" b="1" dirty="0"/>
            </a:br>
            <a:r>
              <a:rPr lang="tr-TR" sz="1400" b="1" dirty="0"/>
              <a:t>Avg. Wait Time: 1m 32s</a:t>
            </a:r>
            <a:br>
              <a:rPr lang="tr-TR" sz="1400" b="1" dirty="0"/>
            </a:br>
            <a:r>
              <a:rPr lang="tr-TR" sz="1400" b="1" dirty="0"/>
              <a:t>Avg. Chat Duration: 6m 45s</a:t>
            </a:r>
            <a:endParaRPr lang="tr-TR" sz="12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1F07594-055B-5DFA-3B81-FA0E3D4AE9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2407" y="313374"/>
            <a:ext cx="2255145" cy="53912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D0801AE-D06B-F625-52CC-2C69FF3CEA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4608" y="264161"/>
            <a:ext cx="2420020" cy="62315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1CBE7C4-4263-72EC-4D1B-377A0A857E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396"/>
            <a:ext cx="3684494" cy="11802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CF0EED-9A77-0632-AEBE-F7DEA1FFFF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3" y="1728670"/>
            <a:ext cx="9750582" cy="3595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478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EC240-487A-CE5C-F6F5-893C0BAAF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2555" y="1531954"/>
            <a:ext cx="3645084" cy="407406"/>
          </a:xfrm>
        </p:spPr>
        <p:txBody>
          <a:bodyPr>
            <a:noAutofit/>
          </a:bodyPr>
          <a:lstStyle/>
          <a:p>
            <a:pPr algn="ctr"/>
            <a:r>
              <a:rPr lang="tr-TR" sz="2800" b="1" dirty="0">
                <a:latin typeface="+mn-lt"/>
              </a:rPr>
              <a:t> Chatbot Statistics</a:t>
            </a:r>
            <a:br>
              <a:rPr lang="en-US" sz="2800" dirty="0">
                <a:latin typeface="+mn-lt"/>
              </a:rPr>
            </a:br>
            <a:endParaRPr lang="en-US" sz="2800" dirty="0"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4A273B-F287-1ED8-3DD3-BB5F494A82D0}"/>
              </a:ext>
            </a:extLst>
          </p:cNvPr>
          <p:cNvSpPr txBox="1"/>
          <p:nvPr/>
        </p:nvSpPr>
        <p:spPr>
          <a:xfrm>
            <a:off x="9996105" y="1939360"/>
            <a:ext cx="234376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200" b="1" dirty="0">
                <a:solidFill>
                  <a:srgbClr val="1D1C1D"/>
                </a:solidFill>
              </a:rPr>
              <a:t>  All chatbots;</a:t>
            </a:r>
          </a:p>
          <a:p>
            <a:br>
              <a:rPr lang="tr-TR" sz="1200" b="1" dirty="0">
                <a:solidFill>
                  <a:srgbClr val="1D1C1D"/>
                </a:solidFill>
              </a:rPr>
            </a:br>
            <a:r>
              <a:rPr lang="tr-TR" sz="1200" dirty="0"/>
              <a:t>- </a:t>
            </a:r>
            <a:r>
              <a:rPr lang="tr-TR" sz="1200" b="1" dirty="0">
                <a:solidFill>
                  <a:srgbClr val="1D1C1D"/>
                </a:solidFill>
              </a:rPr>
              <a:t>Chatbot only chats : 1.112</a:t>
            </a:r>
            <a:br>
              <a:rPr lang="tr-TR" sz="1200" b="1" dirty="0">
                <a:solidFill>
                  <a:srgbClr val="1D1C1D"/>
                </a:solidFill>
              </a:rPr>
            </a:br>
            <a:r>
              <a:rPr lang="tr-TR" sz="1200" dirty="0"/>
              <a:t>- </a:t>
            </a:r>
            <a:r>
              <a:rPr lang="tr-TR" sz="1200" b="1" dirty="0">
                <a:solidFill>
                  <a:srgbClr val="1D1C1D"/>
                </a:solidFill>
              </a:rPr>
              <a:t>From chatbot to agent : 3.619</a:t>
            </a:r>
            <a:br>
              <a:rPr lang="tr-TR" sz="1200" b="1" dirty="0">
                <a:solidFill>
                  <a:srgbClr val="1D1C1D"/>
                </a:solidFill>
              </a:rPr>
            </a:br>
            <a:r>
              <a:rPr lang="tr-TR" sz="1200" dirty="0"/>
              <a:t>- </a:t>
            </a:r>
            <a:r>
              <a:rPr lang="tr-TR" sz="1200" b="1" dirty="0">
                <a:solidFill>
                  <a:srgbClr val="1D1C1D"/>
                </a:solidFill>
              </a:rPr>
              <a:t>Percentage of chatbot : 23,50</a:t>
            </a:r>
            <a:r>
              <a:rPr lang="tr-TR" sz="1200" b="1" dirty="0"/>
              <a:t>%</a:t>
            </a:r>
            <a:br>
              <a:rPr lang="tr-TR" sz="1200" b="1" dirty="0">
                <a:solidFill>
                  <a:srgbClr val="1D1C1D"/>
                </a:solidFill>
              </a:rPr>
            </a:br>
            <a:r>
              <a:rPr lang="tr-TR" sz="1200" dirty="0"/>
              <a:t>- </a:t>
            </a:r>
            <a:r>
              <a:rPr lang="tr-TR" sz="1200" b="1" dirty="0">
                <a:solidFill>
                  <a:srgbClr val="1D1C1D"/>
                </a:solidFill>
              </a:rPr>
              <a:t>Action usage : 21.171</a:t>
            </a:r>
            <a:br>
              <a:rPr lang="tr-TR" sz="1200" b="1" dirty="0">
                <a:solidFill>
                  <a:srgbClr val="1D1C1D"/>
                </a:solidFill>
              </a:rPr>
            </a:br>
            <a:r>
              <a:rPr lang="tr-TR" sz="1200" dirty="0"/>
              <a:t>- </a:t>
            </a:r>
            <a:r>
              <a:rPr lang="tr-TR" sz="1200" b="1" dirty="0">
                <a:solidFill>
                  <a:srgbClr val="1D1C1D"/>
                </a:solidFill>
              </a:rPr>
              <a:t>Action per chat : 5,85</a:t>
            </a:r>
            <a:endParaRPr lang="tr-TR" sz="12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A383E6-CF7D-4BDE-7F41-B97BAB5592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287" y="132784"/>
            <a:ext cx="1765861" cy="630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6CB8DDD-CE6C-82A2-DCB0-7D22579D75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9422" y="112195"/>
            <a:ext cx="2557502" cy="61349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BAFA020-0DC7-D5CD-76AB-0B7422FBC1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3787" y="-131447"/>
            <a:ext cx="3436342" cy="11007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AB56836-18F5-9541-4D55-41083B35C7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63104" y="5705314"/>
            <a:ext cx="1228896" cy="1152686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1737360"/>
            <a:ext cx="9756648" cy="3355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559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7AA08-F84D-0433-F9BF-D81841B57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8B07F04-658C-54BE-82B4-5945435F7B7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520406" y="737302"/>
            <a:ext cx="1943767" cy="448697"/>
          </a:xfrm>
        </p:spPr>
        <p:txBody>
          <a:bodyPr>
            <a:normAutofit/>
          </a:bodyPr>
          <a:lstStyle/>
          <a:p>
            <a:r>
              <a:rPr lang="tr-TR" sz="1600" b="1" dirty="0"/>
              <a:t>Missed Chat</a:t>
            </a:r>
            <a:endParaRPr lang="en-US" sz="1600" b="1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B0620390-58AF-804F-2682-68ADF43D97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1C552F7-6D39-2AAC-EE22-7D077A7DDD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3104" y="5705314"/>
            <a:ext cx="1228896" cy="115268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BB6E515-ED50-FD08-F9CD-95FFF479439B}"/>
              </a:ext>
            </a:extLst>
          </p:cNvPr>
          <p:cNvSpPr txBox="1"/>
          <p:nvPr/>
        </p:nvSpPr>
        <p:spPr>
          <a:xfrm>
            <a:off x="9349998" y="926808"/>
            <a:ext cx="2958352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tr-TR" sz="1100" dirty="0"/>
            </a:br>
            <a:endParaRPr lang="tr-TR" sz="1100" dirty="0"/>
          </a:p>
          <a:p>
            <a:br>
              <a:rPr lang="tr-TR" sz="1100" dirty="0"/>
            </a:br>
            <a:br>
              <a:rPr lang="tr-TR" sz="1100" dirty="0"/>
            </a:br>
            <a:endParaRPr lang="tr-TR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5AB0B3-3EE2-0EFB-818C-FF48AEBEFB74}"/>
              </a:ext>
            </a:extLst>
          </p:cNvPr>
          <p:cNvSpPr txBox="1"/>
          <p:nvPr/>
        </p:nvSpPr>
        <p:spPr>
          <a:xfrm>
            <a:off x="10090908" y="1396167"/>
            <a:ext cx="2651988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200" dirty="0"/>
              <a:t>Explanation;</a:t>
            </a:r>
            <a:br>
              <a:rPr lang="tr-TR" sz="1200" b="1" dirty="0"/>
            </a:br>
            <a:r>
              <a:rPr lang="tr-TR" sz="1200" b="1" dirty="0"/>
              <a:t>- Total Chats: 1.356</a:t>
            </a:r>
            <a:br>
              <a:rPr lang="tr-TR" sz="1200" b="1" dirty="0"/>
            </a:br>
            <a:r>
              <a:rPr lang="tr-TR" sz="1200" b="1" dirty="0"/>
              <a:t>- Total served chats: 1.356</a:t>
            </a:r>
            <a:br>
              <a:rPr lang="tr-TR" sz="1200" b="1" dirty="0"/>
            </a:br>
            <a:r>
              <a:rPr lang="tr-TR" sz="1200" b="1" dirty="0"/>
              <a:t>- Total Missed chats: 0</a:t>
            </a:r>
            <a:br>
              <a:rPr lang="tr-TR" sz="1200" b="1" dirty="0"/>
            </a:br>
            <a:r>
              <a:rPr lang="tr-TR" sz="1200" b="1" dirty="0"/>
              <a:t>- Succes: </a:t>
            </a:r>
            <a:r>
              <a:rPr lang="tr-TR" sz="1200" b="1" dirty="0">
                <a:solidFill>
                  <a:srgbClr val="000000"/>
                </a:solidFill>
              </a:rPr>
              <a:t>100,00</a:t>
            </a:r>
            <a:r>
              <a:rPr lang="en-US" sz="1200" b="1" i="0" dirty="0">
                <a:solidFill>
                  <a:srgbClr val="000000"/>
                </a:solidFill>
                <a:effectLst/>
              </a:rPr>
              <a:t>%</a:t>
            </a:r>
            <a:br>
              <a:rPr lang="tr-TR" sz="1200" b="1" dirty="0"/>
            </a:br>
            <a:endParaRPr lang="tr-TR" sz="1200" b="1" dirty="0">
              <a:solidFill>
                <a:srgbClr val="1D1C1D"/>
              </a:solidFill>
            </a:endParaRPr>
          </a:p>
          <a:p>
            <a:endParaRPr lang="tr-TR" sz="1100" dirty="0">
              <a:solidFill>
                <a:srgbClr val="1D1C1D"/>
              </a:solidFill>
              <a:latin typeface="Slack-Lato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0BE0B5F-A27F-E432-8E3C-D29BB6735212}"/>
              </a:ext>
            </a:extLst>
          </p:cNvPr>
          <p:cNvSpPr txBox="1">
            <a:spLocks/>
          </p:cNvSpPr>
          <p:nvPr/>
        </p:nvSpPr>
        <p:spPr>
          <a:xfrm>
            <a:off x="202264" y="4010975"/>
            <a:ext cx="1685612" cy="1205819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endParaRPr lang="tr-TR" sz="1050" dirty="0">
              <a:solidFill>
                <a:srgbClr val="1D1C1D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DFFD9B9-001D-2235-8733-6B596C9C85F9}"/>
              </a:ext>
            </a:extLst>
          </p:cNvPr>
          <p:cNvSpPr txBox="1">
            <a:spLocks/>
          </p:cNvSpPr>
          <p:nvPr/>
        </p:nvSpPr>
        <p:spPr>
          <a:xfrm>
            <a:off x="136950" y="4103095"/>
            <a:ext cx="1685612" cy="1205819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endParaRPr lang="tr-TR" sz="1050" dirty="0">
              <a:solidFill>
                <a:srgbClr val="1D1C1D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E1EFB16-C4D3-0174-F968-77F5E1A418C1}"/>
              </a:ext>
            </a:extLst>
          </p:cNvPr>
          <p:cNvSpPr txBox="1">
            <a:spLocks/>
          </p:cNvSpPr>
          <p:nvPr/>
        </p:nvSpPr>
        <p:spPr>
          <a:xfrm>
            <a:off x="264635" y="5034483"/>
            <a:ext cx="2096427" cy="1103989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endParaRPr lang="tr-TR" sz="1200" dirty="0">
              <a:solidFill>
                <a:srgbClr val="1D1C1D"/>
              </a:solidFill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3DA8C78-6466-BE52-87D1-6813321BA135}"/>
              </a:ext>
            </a:extLst>
          </p:cNvPr>
          <p:cNvSpPr txBox="1">
            <a:spLocks/>
          </p:cNvSpPr>
          <p:nvPr/>
        </p:nvSpPr>
        <p:spPr>
          <a:xfrm>
            <a:off x="157601" y="4110200"/>
            <a:ext cx="1685612" cy="1205819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endParaRPr lang="tr-TR" sz="1050" dirty="0">
              <a:solidFill>
                <a:srgbClr val="1D1C1D"/>
              </a:solidFill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A850F08-944B-D678-A253-41461593341C}"/>
              </a:ext>
            </a:extLst>
          </p:cNvPr>
          <p:cNvSpPr txBox="1">
            <a:spLocks/>
          </p:cNvSpPr>
          <p:nvPr/>
        </p:nvSpPr>
        <p:spPr>
          <a:xfrm>
            <a:off x="1815244" y="3917763"/>
            <a:ext cx="1685612" cy="1205819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endParaRPr lang="tr-TR" sz="1050" dirty="0">
              <a:solidFill>
                <a:srgbClr val="1D1C1D"/>
              </a:solidFill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06EF4B42-34EE-4DD1-BB0C-2346E88608EC}"/>
              </a:ext>
            </a:extLst>
          </p:cNvPr>
          <p:cNvSpPr txBox="1">
            <a:spLocks/>
          </p:cNvSpPr>
          <p:nvPr/>
        </p:nvSpPr>
        <p:spPr>
          <a:xfrm>
            <a:off x="3677600" y="3817549"/>
            <a:ext cx="1685612" cy="1205819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endParaRPr lang="tr-TR" sz="1050" dirty="0">
              <a:solidFill>
                <a:srgbClr val="1D1C1D"/>
              </a:solidFill>
            </a:endParaRP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29B59DB4-5584-A1C5-DC77-03EB6629D629}"/>
              </a:ext>
            </a:extLst>
          </p:cNvPr>
          <p:cNvSpPr txBox="1">
            <a:spLocks/>
          </p:cNvSpPr>
          <p:nvPr/>
        </p:nvSpPr>
        <p:spPr>
          <a:xfrm>
            <a:off x="219973" y="5034483"/>
            <a:ext cx="1550608" cy="1258209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Calibri" panose="020F0502020204030204" pitchFamily="34" charset="0"/>
              <a:buNone/>
            </a:pPr>
            <a:endParaRPr lang="tr-TR" sz="1000" dirty="0">
              <a:solidFill>
                <a:srgbClr val="1D1C1D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CCF971A-15AF-1F7C-DAF7-E7489D207F69}"/>
              </a:ext>
            </a:extLst>
          </p:cNvPr>
          <p:cNvSpPr txBox="1"/>
          <p:nvPr/>
        </p:nvSpPr>
        <p:spPr>
          <a:xfrm>
            <a:off x="9986625" y="2540208"/>
            <a:ext cx="2321725" cy="1349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</a:pPr>
            <a:r>
              <a:rPr lang="tr-TR" sz="1200" dirty="0">
                <a:solidFill>
                  <a:srgbClr val="1D1C1D"/>
                </a:solidFill>
              </a:rPr>
              <a:t>Superbetin chatbot;</a:t>
            </a:r>
            <a:br>
              <a:rPr lang="tr-TR" sz="1200" dirty="0">
                <a:solidFill>
                  <a:srgbClr val="1D1C1D"/>
                </a:solidFill>
              </a:rPr>
            </a:br>
            <a:r>
              <a:rPr lang="tr-TR" sz="1200" b="1" dirty="0"/>
              <a:t>- </a:t>
            </a:r>
            <a:r>
              <a:rPr lang="tr-TR" sz="1200" b="1" dirty="0">
                <a:solidFill>
                  <a:srgbClr val="1D1C1D"/>
                </a:solidFill>
              </a:rPr>
              <a:t>Chatbot only chats : 240</a:t>
            </a:r>
            <a:br>
              <a:rPr lang="tr-TR" sz="1200" b="1" dirty="0">
                <a:solidFill>
                  <a:srgbClr val="1D1C1D"/>
                </a:solidFill>
              </a:rPr>
            </a:br>
            <a:r>
              <a:rPr lang="tr-TR" sz="1200" b="1" dirty="0"/>
              <a:t>- </a:t>
            </a:r>
            <a:r>
              <a:rPr lang="tr-TR" sz="1200" b="1" dirty="0">
                <a:solidFill>
                  <a:srgbClr val="1D1C1D"/>
                </a:solidFill>
              </a:rPr>
              <a:t>From chatbot to agent : </a:t>
            </a:r>
            <a:r>
              <a:rPr lang="tr-TR" sz="1200" b="1" dirty="0">
                <a:solidFill>
                  <a:srgbClr val="000000"/>
                </a:solidFill>
              </a:rPr>
              <a:t>889</a:t>
            </a:r>
            <a:br>
              <a:rPr lang="tr-TR" sz="1200" b="1" dirty="0">
                <a:solidFill>
                  <a:srgbClr val="1D1C1D"/>
                </a:solidFill>
              </a:rPr>
            </a:br>
            <a:r>
              <a:rPr lang="tr-TR" sz="1200" b="1" dirty="0"/>
              <a:t>- </a:t>
            </a:r>
            <a:r>
              <a:rPr lang="tr-TR" sz="1200" b="1" dirty="0">
                <a:solidFill>
                  <a:srgbClr val="1D1C1D"/>
                </a:solidFill>
              </a:rPr>
              <a:t>Percentage of chatbot : 17,70</a:t>
            </a:r>
            <a:r>
              <a:rPr lang="en-US" sz="1200" b="1" i="0" dirty="0">
                <a:solidFill>
                  <a:srgbClr val="000000"/>
                </a:solidFill>
                <a:effectLst/>
              </a:rPr>
              <a:t>%</a:t>
            </a:r>
            <a:endParaRPr lang="tr-TR" sz="1200" b="1" i="0" dirty="0">
              <a:solidFill>
                <a:srgbClr val="000000"/>
              </a:solidFill>
              <a:effectLst/>
            </a:endParaRPr>
          </a:p>
          <a:p>
            <a:pPr algn="l">
              <a:lnSpc>
                <a:spcPts val="1350"/>
              </a:lnSpc>
            </a:pPr>
            <a:endParaRPr lang="tr-TR" sz="1200" b="1" dirty="0">
              <a:solidFill>
                <a:srgbClr val="000000"/>
              </a:solidFill>
            </a:endParaRPr>
          </a:p>
          <a:p>
            <a:pPr algn="l">
              <a:lnSpc>
                <a:spcPts val="1350"/>
              </a:lnSpc>
            </a:pPr>
            <a:endParaRPr lang="tr-TR" sz="1200" b="1" i="0" dirty="0">
              <a:solidFill>
                <a:srgbClr val="000000"/>
              </a:solidFill>
              <a:effectLst/>
            </a:endParaRPr>
          </a:p>
          <a:p>
            <a:pPr algn="l">
              <a:lnSpc>
                <a:spcPts val="1350"/>
              </a:lnSpc>
            </a:pPr>
            <a:endParaRPr lang="en-US" sz="1200" i="0" dirty="0">
              <a:solidFill>
                <a:srgbClr val="000000"/>
              </a:solidFill>
              <a:effectLst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136CED2-7803-35F9-3BF5-14D0C61D00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0522" y="-145925"/>
            <a:ext cx="3419475" cy="10953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252728"/>
            <a:ext cx="9793224" cy="3264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035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756714B-2A22-C087-8658-0780DADED30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520406" y="849901"/>
            <a:ext cx="3151187" cy="350838"/>
          </a:xfrm>
        </p:spPr>
        <p:txBody>
          <a:bodyPr>
            <a:normAutofit/>
          </a:bodyPr>
          <a:lstStyle/>
          <a:p>
            <a:r>
              <a:rPr lang="tr-TR" sz="1600" b="1" dirty="0"/>
              <a:t>Missed Chat</a:t>
            </a:r>
            <a:endParaRPr lang="en-US" sz="1600" b="1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D6B0E575-7EDA-5962-1D30-BAABD6E45D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92A0BF-2CA3-4971-B6E6-82F7D14E5578}"/>
              </a:ext>
            </a:extLst>
          </p:cNvPr>
          <p:cNvSpPr txBox="1"/>
          <p:nvPr/>
        </p:nvSpPr>
        <p:spPr>
          <a:xfrm>
            <a:off x="10036725" y="1252279"/>
            <a:ext cx="2042146" cy="1523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Explanation</a:t>
            </a:r>
            <a:r>
              <a:rPr lang="en-US" sz="1200" dirty="0"/>
              <a:t>;</a:t>
            </a:r>
            <a:br>
              <a:rPr lang="tr-TR" sz="1200" b="1" dirty="0"/>
            </a:br>
            <a:r>
              <a:rPr lang="tr-TR" sz="1200" b="1" dirty="0"/>
              <a:t>- Total Chats: 804</a:t>
            </a:r>
          </a:p>
          <a:p>
            <a:r>
              <a:rPr lang="tr-TR" sz="1200" dirty="0"/>
              <a:t>-</a:t>
            </a:r>
            <a:r>
              <a:rPr lang="tr-TR" sz="1200" b="1" dirty="0"/>
              <a:t> Total served chats: 802</a:t>
            </a:r>
            <a:br>
              <a:rPr lang="tr-TR" sz="1200" b="1" dirty="0"/>
            </a:br>
            <a:r>
              <a:rPr lang="tr-TR" sz="1200" b="1" dirty="0"/>
              <a:t>- Total Missed chats: 2</a:t>
            </a:r>
            <a:br>
              <a:rPr lang="tr-TR" sz="1200" b="1" dirty="0"/>
            </a:br>
            <a:r>
              <a:rPr lang="tr-TR" sz="1200" dirty="0"/>
              <a:t>- </a:t>
            </a:r>
            <a:r>
              <a:rPr lang="tr-TR" sz="1200" b="1" dirty="0"/>
              <a:t>Succes: 99,75%</a:t>
            </a:r>
          </a:p>
          <a:p>
            <a:br>
              <a:rPr lang="tr-TR" sz="1100" dirty="0"/>
            </a:br>
            <a:endParaRPr lang="tr-TR" sz="1100" dirty="0">
              <a:solidFill>
                <a:srgbClr val="1D1C1D"/>
              </a:solidFill>
              <a:latin typeface="Slack-Lato"/>
            </a:endParaRPr>
          </a:p>
          <a:p>
            <a:endParaRPr lang="tr-TR" sz="1100" dirty="0">
              <a:solidFill>
                <a:srgbClr val="1D1C1D"/>
              </a:solidFill>
              <a:latin typeface="Slack-Lato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85D4BD-D0F0-ADAD-EC8D-9F484A27BE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5861" cy="630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E16D35B-41B6-65B6-1E20-099B860771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3104" y="5705314"/>
            <a:ext cx="1228896" cy="1152686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C4742E7-F61A-D695-9F1E-DD7CAF62F403}"/>
              </a:ext>
            </a:extLst>
          </p:cNvPr>
          <p:cNvSpPr txBox="1">
            <a:spLocks/>
          </p:cNvSpPr>
          <p:nvPr/>
        </p:nvSpPr>
        <p:spPr>
          <a:xfrm>
            <a:off x="4272057" y="4151316"/>
            <a:ext cx="1333537" cy="95876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br>
              <a:rPr lang="tr-TR" sz="1050" dirty="0">
                <a:solidFill>
                  <a:srgbClr val="1D1C1D"/>
                </a:solidFill>
              </a:rPr>
            </a:br>
            <a:br>
              <a:rPr lang="tr-TR" sz="1050" dirty="0">
                <a:solidFill>
                  <a:srgbClr val="1D1C1D"/>
                </a:solidFill>
              </a:rPr>
            </a:br>
            <a:endParaRPr lang="tr-TR" sz="1050" dirty="0">
              <a:solidFill>
                <a:srgbClr val="1D1C1D"/>
              </a:solidFill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04F4925-0D89-C9C8-46DD-0CA166543B3A}"/>
              </a:ext>
            </a:extLst>
          </p:cNvPr>
          <p:cNvSpPr txBox="1">
            <a:spLocks/>
          </p:cNvSpPr>
          <p:nvPr/>
        </p:nvSpPr>
        <p:spPr>
          <a:xfrm>
            <a:off x="136950" y="4151316"/>
            <a:ext cx="1685612" cy="1205819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endParaRPr lang="tr-TR" sz="1050" dirty="0">
              <a:solidFill>
                <a:srgbClr val="1D1C1D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109AA6-B855-75B7-EAD4-91D17EB1DEF3}"/>
              </a:ext>
            </a:extLst>
          </p:cNvPr>
          <p:cNvSpPr txBox="1"/>
          <p:nvPr/>
        </p:nvSpPr>
        <p:spPr>
          <a:xfrm>
            <a:off x="10036725" y="2504601"/>
            <a:ext cx="226693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200" b="1" dirty="0">
                <a:solidFill>
                  <a:srgbClr val="1D1C1D"/>
                </a:solidFill>
              </a:rPr>
              <a:t>Betsat chatbot;</a:t>
            </a:r>
            <a:br>
              <a:rPr lang="tr-TR" sz="1200" b="1" dirty="0">
                <a:solidFill>
                  <a:srgbClr val="1D1C1D"/>
                </a:solidFill>
              </a:rPr>
            </a:br>
            <a:r>
              <a:rPr lang="tr-TR" sz="1200" b="1" dirty="0"/>
              <a:t>- </a:t>
            </a:r>
            <a:r>
              <a:rPr lang="tr-TR" sz="1200" b="1" dirty="0">
                <a:solidFill>
                  <a:srgbClr val="1D1C1D"/>
                </a:solidFill>
              </a:rPr>
              <a:t>Chatbot only chats : 141</a:t>
            </a:r>
            <a:br>
              <a:rPr lang="tr-TR" sz="1200" b="1" dirty="0">
                <a:solidFill>
                  <a:srgbClr val="1D1C1D"/>
                </a:solidFill>
              </a:rPr>
            </a:br>
            <a:r>
              <a:rPr lang="tr-TR" sz="1200" b="1" dirty="0">
                <a:solidFill>
                  <a:srgbClr val="1D1C1D"/>
                </a:solidFill>
              </a:rPr>
              <a:t>- From chatbot to agent : 600</a:t>
            </a:r>
            <a:br>
              <a:rPr lang="tr-TR" sz="1200" b="1" dirty="0">
                <a:solidFill>
                  <a:srgbClr val="1D1C1D"/>
                </a:solidFill>
              </a:rPr>
            </a:br>
            <a:r>
              <a:rPr lang="tr-TR" sz="1200" b="1" dirty="0"/>
              <a:t>- </a:t>
            </a:r>
            <a:r>
              <a:rPr lang="tr-TR" sz="1200" b="1" dirty="0">
                <a:solidFill>
                  <a:srgbClr val="1D1C1D"/>
                </a:solidFill>
              </a:rPr>
              <a:t>Percentage of chatbot: 17,54%</a:t>
            </a:r>
            <a:endParaRPr lang="en-US" sz="1200" dirty="0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197864"/>
            <a:ext cx="9573768" cy="3236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5030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01658-A9E0-196F-7FCE-2E6BC89A6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BC63C67-927E-27B3-2EB8-FC806516E69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820004" y="729106"/>
            <a:ext cx="3151187" cy="350838"/>
          </a:xfrm>
        </p:spPr>
        <p:txBody>
          <a:bodyPr>
            <a:normAutofit/>
          </a:bodyPr>
          <a:lstStyle/>
          <a:p>
            <a:r>
              <a:rPr lang="tr-TR" sz="1600" b="1" dirty="0"/>
              <a:t>Missed Chat</a:t>
            </a:r>
            <a:endParaRPr lang="en-US" sz="1600" b="1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E4C64EAA-3DB1-861D-7D26-36F3EA94C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F0DB6DE-A5F0-C907-877B-B1389ECEFE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3104" y="5705314"/>
            <a:ext cx="1228896" cy="1152686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1982ED6-8DB1-DAD6-AF39-330980E2CB3E}"/>
              </a:ext>
            </a:extLst>
          </p:cNvPr>
          <p:cNvSpPr txBox="1">
            <a:spLocks/>
          </p:cNvSpPr>
          <p:nvPr/>
        </p:nvSpPr>
        <p:spPr>
          <a:xfrm>
            <a:off x="85881" y="5395638"/>
            <a:ext cx="2044749" cy="1605205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endParaRPr lang="en-US" sz="11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CFCDD9-641F-B697-A99E-07DDC08A46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" y="0"/>
            <a:ext cx="2189074" cy="52511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1C9B5BA-13BE-D7BD-56F8-E545D0E82342}"/>
              </a:ext>
            </a:extLst>
          </p:cNvPr>
          <p:cNvSpPr txBox="1"/>
          <p:nvPr/>
        </p:nvSpPr>
        <p:spPr>
          <a:xfrm>
            <a:off x="9931812" y="1254220"/>
            <a:ext cx="2412094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Explanation</a:t>
            </a:r>
            <a:r>
              <a:rPr lang="en-US" sz="1200" dirty="0"/>
              <a:t>;</a:t>
            </a:r>
            <a:br>
              <a:rPr lang="tr-TR" sz="1200" b="1" dirty="0"/>
            </a:br>
            <a:r>
              <a:rPr lang="tr-TR" sz="1200" b="1" dirty="0"/>
              <a:t>- Total Chats: 132</a:t>
            </a:r>
          </a:p>
          <a:p>
            <a:r>
              <a:rPr lang="tr-TR" sz="1200" b="1" dirty="0"/>
              <a:t>- Total served chats: 132</a:t>
            </a:r>
            <a:br>
              <a:rPr lang="tr-TR" sz="1200" b="1" dirty="0"/>
            </a:br>
            <a:r>
              <a:rPr lang="tr-TR" sz="1200" b="1" dirty="0"/>
              <a:t>- Total Missed chats: 0</a:t>
            </a:r>
            <a:br>
              <a:rPr lang="tr-TR" sz="1200" b="1" dirty="0"/>
            </a:br>
            <a:r>
              <a:rPr lang="tr-TR" sz="1200" dirty="0"/>
              <a:t>- </a:t>
            </a:r>
            <a:r>
              <a:rPr lang="tr-TR" sz="1200" b="1" dirty="0"/>
              <a:t>Succes: 100,00%</a:t>
            </a:r>
            <a:br>
              <a:rPr lang="tr-TR" sz="1100" dirty="0"/>
            </a:br>
            <a:endParaRPr lang="tr-TR" sz="1100" dirty="0">
              <a:solidFill>
                <a:srgbClr val="1D1C1D"/>
              </a:solidFill>
              <a:latin typeface="Slack-Lato"/>
            </a:endParaRPr>
          </a:p>
          <a:p>
            <a:endParaRPr lang="tr-TR" sz="1100" dirty="0">
              <a:solidFill>
                <a:srgbClr val="1D1C1D"/>
              </a:solidFill>
              <a:latin typeface="Slack-Lato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D9CFBA-0459-59B5-9D69-A4BED412C74A}"/>
              </a:ext>
            </a:extLst>
          </p:cNvPr>
          <p:cNvSpPr txBox="1"/>
          <p:nvPr/>
        </p:nvSpPr>
        <p:spPr>
          <a:xfrm>
            <a:off x="9931812" y="2486646"/>
            <a:ext cx="22601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200" b="1" dirty="0">
                <a:solidFill>
                  <a:srgbClr val="1D1C1D"/>
                </a:solidFill>
              </a:rPr>
              <a:t>Turkbet chatbot;</a:t>
            </a:r>
            <a:br>
              <a:rPr lang="tr-TR" sz="1200" b="1" dirty="0">
                <a:solidFill>
                  <a:srgbClr val="1D1C1D"/>
                </a:solidFill>
              </a:rPr>
            </a:br>
            <a:r>
              <a:rPr lang="tr-TR" sz="1200" dirty="0"/>
              <a:t>- </a:t>
            </a:r>
            <a:r>
              <a:rPr lang="tr-TR" sz="1200" b="1" dirty="0">
                <a:solidFill>
                  <a:srgbClr val="1D1C1D"/>
                </a:solidFill>
              </a:rPr>
              <a:t>Chatbot only chats : 30</a:t>
            </a:r>
            <a:br>
              <a:rPr lang="tr-TR" sz="1200" b="1" dirty="0">
                <a:solidFill>
                  <a:srgbClr val="1D1C1D"/>
                </a:solidFill>
              </a:rPr>
            </a:br>
            <a:r>
              <a:rPr lang="tr-TR" sz="1200" dirty="0"/>
              <a:t>- </a:t>
            </a:r>
            <a:r>
              <a:rPr lang="tr-TR" sz="1200" b="1" dirty="0">
                <a:solidFill>
                  <a:srgbClr val="1D1C1D"/>
                </a:solidFill>
              </a:rPr>
              <a:t>From chatbot to agent : 87</a:t>
            </a:r>
            <a:br>
              <a:rPr lang="tr-TR" sz="1200" b="1" dirty="0">
                <a:solidFill>
                  <a:srgbClr val="1D1C1D"/>
                </a:solidFill>
              </a:rPr>
            </a:br>
            <a:r>
              <a:rPr lang="tr-TR" sz="1200" dirty="0"/>
              <a:t>- </a:t>
            </a:r>
            <a:r>
              <a:rPr lang="tr-TR" sz="1200" b="1" dirty="0">
                <a:solidFill>
                  <a:srgbClr val="1D1C1D"/>
                </a:solidFill>
              </a:rPr>
              <a:t>Percentage of chatbot : 22,73</a:t>
            </a:r>
            <a:r>
              <a:rPr lang="tr-TR" sz="1200" b="1" dirty="0"/>
              <a:t>%</a:t>
            </a:r>
            <a:endParaRPr lang="en-US" sz="1200" dirty="0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161288"/>
            <a:ext cx="9454896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949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51FB8-230F-18E3-D9F2-382EFDC6C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AA1C0C77-B1FC-C5CB-D685-654121108C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67951" y="-75578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4285759-AE07-5777-EE50-3AB113623453}"/>
              </a:ext>
            </a:extLst>
          </p:cNvPr>
          <p:cNvSpPr txBox="1">
            <a:spLocks/>
          </p:cNvSpPr>
          <p:nvPr/>
        </p:nvSpPr>
        <p:spPr>
          <a:xfrm>
            <a:off x="1212979" y="2341982"/>
            <a:ext cx="4898572" cy="132494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95A865-F1ED-E3B6-DEF2-B3CF50CCBF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3104" y="5705314"/>
            <a:ext cx="1228896" cy="1152686"/>
          </a:xfrm>
          <a:prstGeom prst="rect">
            <a:avLst/>
          </a:prstGeom>
        </p:spPr>
      </p:pic>
      <p:sp>
        <p:nvSpPr>
          <p:cNvPr id="26" name="Title 6">
            <a:extLst>
              <a:ext uri="{FF2B5EF4-FFF2-40B4-BE49-F238E27FC236}">
                <a16:creationId xmlns:a16="http://schemas.microsoft.com/office/drawing/2014/main" id="{11276ADC-2A4C-6856-4AAA-9CBFB953FB4C}"/>
              </a:ext>
            </a:extLst>
          </p:cNvPr>
          <p:cNvSpPr txBox="1">
            <a:spLocks/>
          </p:cNvSpPr>
          <p:nvPr/>
        </p:nvSpPr>
        <p:spPr>
          <a:xfrm>
            <a:off x="5084278" y="561841"/>
            <a:ext cx="3151187" cy="35083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2400" b="1" dirty="0">
                <a:latin typeface="+mn-lt"/>
              </a:rPr>
              <a:t>Top 10 </a:t>
            </a:r>
            <a:r>
              <a:rPr lang="tr-TR" sz="2400" b="1" dirty="0" err="1">
                <a:latin typeface="+mn-lt"/>
              </a:rPr>
              <a:t>Tags</a:t>
            </a:r>
            <a:endParaRPr lang="en-US" sz="2400" b="1" dirty="0">
              <a:latin typeface="+mn-lt"/>
            </a:endParaRPr>
          </a:p>
        </p:txBody>
      </p:sp>
      <p:sp>
        <p:nvSpPr>
          <p:cNvPr id="28" name="TextBox 8">
            <a:extLst>
              <a:ext uri="{FF2B5EF4-FFF2-40B4-BE49-F238E27FC236}">
                <a16:creationId xmlns:a16="http://schemas.microsoft.com/office/drawing/2014/main" id="{6568327C-7D4C-7070-954D-A357C319131C}"/>
              </a:ext>
            </a:extLst>
          </p:cNvPr>
          <p:cNvSpPr txBox="1"/>
          <p:nvPr/>
        </p:nvSpPr>
        <p:spPr>
          <a:xfrm>
            <a:off x="4764887" y="4049185"/>
            <a:ext cx="2104383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tr-TR" sz="1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- Top 10 Chat </a:t>
            </a:r>
            <a:r>
              <a:rPr lang="tr-TR" sz="1300" b="1" dirty="0" err="1">
                <a:solidFill>
                  <a:srgbClr val="1D1C1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Calibri" panose="020F0502020204030204" pitchFamily="34" charset="0"/>
              </a:rPr>
              <a:t>Tags</a:t>
            </a:r>
            <a:endParaRPr lang="tr-TR" sz="1300" b="1" dirty="0">
              <a:solidFill>
                <a:srgbClr val="1D1C1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cs typeface="Calibri" panose="020F0502020204030204" pitchFamily="34" charset="0"/>
            </a:endParaRPr>
          </a:p>
        </p:txBody>
      </p:sp>
      <p:sp>
        <p:nvSpPr>
          <p:cNvPr id="13" name="AutoShape 2">
            <a:extLst>
              <a:ext uri="{FF2B5EF4-FFF2-40B4-BE49-F238E27FC236}">
                <a16:creationId xmlns:a16="http://schemas.microsoft.com/office/drawing/2014/main" id="{E1ADD5C1-1F2E-0123-6645-215D3BC59B5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1035424"/>
            <a:ext cx="2545976" cy="2545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987A158-BF29-A36E-2419-155C8383A6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1793" y="51573"/>
            <a:ext cx="2189074" cy="52511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E8179A3-17F5-94D2-8ED3-76F400865A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4769" y="-100248"/>
            <a:ext cx="2594501" cy="83110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FE6628C-6966-F194-AA86-ADF17934EE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879" y="881942"/>
            <a:ext cx="546352" cy="195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F09177F-1133-B832-4441-F04C219972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3154" y="793686"/>
            <a:ext cx="1038690" cy="33272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8F4BD61-318E-F522-7FE0-5EA80C1938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7418" y="878165"/>
            <a:ext cx="682721" cy="16377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9D0E916-BF3D-69D5-0425-4BABB09F1B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365" y="22798"/>
            <a:ext cx="1765861" cy="630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30B4F12-CB3C-CD96-B5DD-3BB1163B58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1704432"/>
              </p:ext>
            </p:extLst>
          </p:nvPr>
        </p:nvGraphicFramePr>
        <p:xfrm>
          <a:off x="4227670" y="4366783"/>
          <a:ext cx="2641600" cy="1905000"/>
        </p:xfrm>
        <a:graphic>
          <a:graphicData uri="http://schemas.openxmlformats.org/drawingml/2006/table">
            <a:tbl>
              <a:tblPr/>
              <a:tblGrid>
                <a:gridCol w="1778000">
                  <a:extLst>
                    <a:ext uri="{9D8B030D-6E8A-4147-A177-3AD203B41FA5}">
                      <a16:colId xmlns:a16="http://schemas.microsoft.com/office/drawing/2014/main" val="3630344860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194230867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r>
                        <a:t>VIP TIER3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731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38566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r>
                        <a:t>wd_check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679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141793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r>
                        <a:t>deposit_check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542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480693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r>
                        <a:t>goodwill_query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478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106567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r>
                        <a:t>deposit_missing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432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514594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r>
                        <a:t>deposit_issue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242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685722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r>
                        <a:t>sport_cashback_query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184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37165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r>
                        <a:t>wd_missing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144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853562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r>
                        <a:t>casino_cashback_query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141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69364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r>
                        <a:t>free_spin_query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140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8114428"/>
                  </a:ext>
                </a:extLst>
              </a:tr>
            </a:tbl>
          </a:graphicData>
        </a:graphic>
      </p:graphicFrame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1188720"/>
            <a:ext cx="10149840" cy="2724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6186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638E6B-298A-0B7E-2709-AB62487388E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76930" y="688381"/>
            <a:ext cx="7120875" cy="3378891"/>
          </a:xfrm>
        </p:spPr>
        <p:txBody>
          <a:bodyPr>
            <a:normAutofit/>
          </a:bodyPr>
          <a:lstStyle/>
          <a:p>
            <a:pPr algn="l">
              <a:lnSpc>
                <a:spcPts val="1350"/>
              </a:lnSpc>
            </a:pPr>
            <a:br>
              <a:rPr lang="tr-TR" sz="1300" dirty="0">
                <a:solidFill>
                  <a:schemeClr val="tx1"/>
                </a:solidFill>
              </a:rPr>
            </a:br>
            <a:br>
              <a:rPr lang="tr-TR" sz="1300" dirty="0">
                <a:solidFill>
                  <a:schemeClr val="tx1"/>
                </a:solidFill>
              </a:rPr>
            </a:br>
            <a:br>
              <a:rPr lang="tr-TR" sz="1300" dirty="0">
                <a:solidFill>
                  <a:schemeClr val="tx1"/>
                </a:solidFill>
              </a:rPr>
            </a:br>
            <a:r>
              <a:rPr lang="tr-TR" sz="1300" dirty="0">
                <a:solidFill>
                  <a:schemeClr val="tx1"/>
                </a:solidFill>
              </a:rPr>
              <a:t>- </a:t>
            </a:r>
            <a:r>
              <a:rPr lang="en-US" sz="1300" dirty="0">
                <a:solidFill>
                  <a:schemeClr val="tx1"/>
                </a:solidFill>
              </a:rPr>
              <a:t>Solved E-mails</a:t>
            </a:r>
            <a:r>
              <a:rPr lang="tr-TR" sz="1300" dirty="0">
                <a:solidFill>
                  <a:schemeClr val="tx1"/>
                </a:solidFill>
              </a:rPr>
              <a:t> for </a:t>
            </a:r>
            <a:r>
              <a:rPr lang="tr-TR" sz="1300" b="1" dirty="0">
                <a:solidFill>
                  <a:srgbClr val="0070C0"/>
                </a:solidFill>
              </a:rPr>
              <a:t>SUPERBETIN </a:t>
            </a:r>
            <a:r>
              <a:rPr lang="en-US" sz="1300" dirty="0"/>
              <a:t>: </a:t>
            </a:r>
            <a:r>
              <a:rPr lang="tr-TR" sz="1300" dirty="0"/>
              <a:t>106</a:t>
            </a:r>
            <a:r>
              <a:rPr lang="tr-TR" sz="1300" dirty="0">
                <a:solidFill>
                  <a:schemeClr val="tx1"/>
                </a:solidFill>
              </a:rPr>
              <a:t> </a:t>
            </a:r>
            <a:r>
              <a:rPr lang="en-US" sz="1300" dirty="0">
                <a:solidFill>
                  <a:schemeClr val="tx1"/>
                </a:solidFill>
              </a:rPr>
              <a:t>/ </a:t>
            </a:r>
            <a:r>
              <a:rPr lang="tr-TR" sz="1300" dirty="0">
                <a:solidFill>
                  <a:schemeClr val="tx1"/>
                </a:solidFill>
              </a:rPr>
              <a:t>First resolution time median</a:t>
            </a:r>
            <a:r>
              <a:rPr lang="en-US" sz="1300" dirty="0">
                <a:solidFill>
                  <a:schemeClr val="tx1"/>
                </a:solidFill>
              </a:rPr>
              <a:t>:</a:t>
            </a:r>
            <a:r>
              <a:rPr lang="tr-TR" sz="1300" dirty="0">
                <a:solidFill>
                  <a:schemeClr val="tx1"/>
                </a:solidFill>
              </a:rPr>
              <a:t> 00:12:00</a:t>
            </a:r>
            <a:br>
              <a:rPr lang="tr-TR" sz="1300" dirty="0">
                <a:solidFill>
                  <a:schemeClr val="tx1"/>
                </a:solidFill>
              </a:rPr>
            </a:br>
            <a:r>
              <a:rPr lang="tr-TR" sz="1300" dirty="0">
                <a:solidFill>
                  <a:schemeClr val="tx1"/>
                </a:solidFill>
              </a:rPr>
              <a:t>- Solved E-mails for </a:t>
            </a:r>
            <a:r>
              <a:rPr lang="tr-TR" sz="1300" b="1" dirty="0">
                <a:solidFill>
                  <a:srgbClr val="7030A0"/>
                </a:solidFill>
              </a:rPr>
              <a:t>BETSAT </a:t>
            </a:r>
            <a:r>
              <a:rPr lang="tr-TR" sz="1300" dirty="0">
                <a:solidFill>
                  <a:schemeClr val="tx1"/>
                </a:solidFill>
              </a:rPr>
              <a:t>: 207 / First resolution time median: 00:16:49</a:t>
            </a:r>
            <a:br>
              <a:rPr lang="tr-TR" sz="1300" dirty="0"/>
            </a:br>
            <a:r>
              <a:rPr lang="en-US" sz="1300" dirty="0">
                <a:solidFill>
                  <a:schemeClr val="tx1"/>
                </a:solidFill>
              </a:rPr>
              <a:t>- Solved E-mails</a:t>
            </a:r>
            <a:r>
              <a:rPr lang="tr-TR" sz="1300" dirty="0">
                <a:solidFill>
                  <a:schemeClr val="tx1"/>
                </a:solidFill>
              </a:rPr>
              <a:t> for </a:t>
            </a:r>
            <a:r>
              <a:rPr lang="tr-TR" sz="1300" b="1" dirty="0">
                <a:solidFill>
                  <a:srgbClr val="FF0000"/>
                </a:solidFill>
              </a:rPr>
              <a:t>TURKBET </a:t>
            </a:r>
            <a:r>
              <a:rPr lang="en-US" sz="1300" dirty="0"/>
              <a:t>:</a:t>
            </a:r>
            <a:r>
              <a:rPr lang="tr-TR" sz="1300" dirty="0"/>
              <a:t> 0 </a:t>
            </a:r>
            <a:r>
              <a:rPr lang="en-US" sz="1300" dirty="0">
                <a:solidFill>
                  <a:schemeClr val="tx1"/>
                </a:solidFill>
              </a:rPr>
              <a:t>/ First resolution time median</a:t>
            </a:r>
            <a:r>
              <a:rPr lang="tr-TR" sz="1300" dirty="0">
                <a:solidFill>
                  <a:schemeClr val="tx1"/>
                </a:solidFill>
              </a:rPr>
              <a:t> : 00:00:00</a:t>
            </a:r>
            <a:br>
              <a:rPr lang="tr-TR" sz="1300" dirty="0">
                <a:solidFill>
                  <a:schemeClr val="tx1"/>
                </a:solidFill>
              </a:rPr>
            </a:br>
            <a:br>
              <a:rPr lang="en-US" sz="1100" dirty="0"/>
            </a:br>
            <a:endParaRPr lang="tr-TR" sz="1200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B572987-E77E-52DF-42E5-F2EA6C468D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67951" y="-75578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733218E-3C27-C56C-4F2F-8563C8193825}"/>
              </a:ext>
            </a:extLst>
          </p:cNvPr>
          <p:cNvSpPr txBox="1">
            <a:spLocks/>
          </p:cNvSpPr>
          <p:nvPr/>
        </p:nvSpPr>
        <p:spPr>
          <a:xfrm>
            <a:off x="1212979" y="2341982"/>
            <a:ext cx="4898572" cy="132494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3DEE8A-F4E8-D09A-B86C-6F2C753C8959}"/>
              </a:ext>
            </a:extLst>
          </p:cNvPr>
          <p:cNvSpPr txBox="1"/>
          <p:nvPr/>
        </p:nvSpPr>
        <p:spPr>
          <a:xfrm>
            <a:off x="82916" y="4190323"/>
            <a:ext cx="292533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500" dirty="0"/>
              <a:t>Desired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500" dirty="0"/>
              <a:t>Response Time : Max. 45s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500" dirty="0"/>
              <a:t>Chat Duration : Max. 9m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500" dirty="0"/>
              <a:t>Satisfaction : Min. 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500" dirty="0"/>
              <a:t>Wait Time (Served) : Max. 40s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500" dirty="0"/>
              <a:t>Wait Time (</a:t>
            </a:r>
            <a:r>
              <a:rPr lang="tr-TR" sz="1500" dirty="0" err="1"/>
              <a:t>Missed</a:t>
            </a:r>
            <a:r>
              <a:rPr lang="tr-TR" sz="1500" dirty="0"/>
              <a:t>) : Max. 60s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500" dirty="0"/>
              <a:t>Acceptance : Min. %95</a:t>
            </a:r>
          </a:p>
          <a:p>
            <a:endParaRPr lang="tr-TR" sz="15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4EAA4B-A4B1-D467-B669-DE531BD37AEF}"/>
              </a:ext>
            </a:extLst>
          </p:cNvPr>
          <p:cNvSpPr txBox="1"/>
          <p:nvPr/>
        </p:nvSpPr>
        <p:spPr>
          <a:xfrm>
            <a:off x="4062557" y="4072094"/>
            <a:ext cx="2925338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tr-TR" sz="1500" dirty="0"/>
              <a:t>Yesterday’s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500" dirty="0"/>
              <a:t>Response Time : </a:t>
            </a:r>
            <a:r>
              <a:rPr lang="tr-TR" sz="1500" dirty="0">
                <a:solidFill>
                  <a:srgbClr val="00B050"/>
                </a:solidFill>
              </a:rPr>
              <a:t>41s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500" dirty="0"/>
              <a:t>Chat Duration : </a:t>
            </a:r>
            <a:r>
              <a:rPr lang="tr-TR" sz="1500" dirty="0">
                <a:solidFill>
                  <a:srgbClr val="00B050"/>
                </a:solidFill>
              </a:rPr>
              <a:t>6m 51s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500" dirty="0"/>
              <a:t>Satisfaction :</a:t>
            </a:r>
            <a:r>
              <a:rPr lang="tr-TR" sz="1500" dirty="0">
                <a:solidFill>
                  <a:srgbClr val="00B050"/>
                </a:solidFill>
              </a:rPr>
              <a:t> 4,06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500" dirty="0"/>
              <a:t>Wait Time (Served) :</a:t>
            </a:r>
            <a:r>
              <a:rPr lang="tr-TR" sz="1500" dirty="0">
                <a:solidFill>
                  <a:srgbClr val="FF0000"/>
                </a:solidFill>
              </a:rPr>
              <a:t> </a:t>
            </a:r>
            <a:r>
              <a:rPr lang="tr-TR" sz="1400" dirty="0">
                <a:solidFill>
                  <a:srgbClr val="FF0000"/>
                </a:solidFill>
              </a:rPr>
              <a:t> 1m 29s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500" dirty="0"/>
              <a:t>Wait Time (Missed) </a:t>
            </a:r>
            <a:r>
              <a:rPr lang="tr-TR" sz="1500" b="1" dirty="0"/>
              <a:t>: </a:t>
            </a:r>
            <a:r>
              <a:rPr lang="tr-TR" sz="1500" dirty="0">
                <a:solidFill>
                  <a:srgbClr val="FF0000"/>
                </a:solidFill>
              </a:rPr>
              <a:t>1m 43</a:t>
            </a:r>
            <a:r>
              <a:rPr lang="tr-TR" sz="1400" dirty="0">
                <a:solidFill>
                  <a:srgbClr val="FF0000"/>
                </a:solidFill>
              </a:rPr>
              <a:t>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500" dirty="0"/>
              <a:t>Acceptance : </a:t>
            </a:r>
            <a:r>
              <a:rPr lang="tr-TR" sz="1500" dirty="0">
                <a:solidFill>
                  <a:srgbClr val="00B050"/>
                </a:solidFill>
              </a:rPr>
              <a:t>97,48%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500" dirty="0"/>
              <a:t>Rated Chats :</a:t>
            </a:r>
            <a:r>
              <a:rPr lang="tr-TR" sz="1500" dirty="0">
                <a:solidFill>
                  <a:srgbClr val="00B050"/>
                </a:solidFill>
              </a:rPr>
              <a:t> 8,67%</a:t>
            </a:r>
          </a:p>
          <a:p>
            <a:pPr marL="0" indent="0">
              <a:buNone/>
            </a:pPr>
            <a:endParaRPr lang="tr-TR" sz="1500" dirty="0"/>
          </a:p>
          <a:p>
            <a:pPr marL="0" indent="0">
              <a:buNone/>
            </a:pPr>
            <a:endParaRPr lang="en-US" sz="1500" dirty="0"/>
          </a:p>
          <a:p>
            <a:endParaRPr lang="en-US" sz="15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5239CE-06B1-1285-BE60-F71B9B93EC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3104" y="5705314"/>
            <a:ext cx="1228896" cy="115268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3CC617C-B04F-88F4-7C49-52779A3DB397}"/>
              </a:ext>
            </a:extLst>
          </p:cNvPr>
          <p:cNvSpPr txBox="1"/>
          <p:nvPr/>
        </p:nvSpPr>
        <p:spPr>
          <a:xfrm>
            <a:off x="4370201" y="2488591"/>
            <a:ext cx="2617694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300" b="1" dirty="0">
                <a:solidFill>
                  <a:srgbClr val="1D1C1D"/>
                </a:solidFill>
                <a:latin typeface="+mn-lt"/>
                <a:cs typeface="Calibri" panose="020F0502020204030204" pitchFamily="34" charset="0"/>
              </a:rPr>
              <a:t>  -</a:t>
            </a:r>
            <a:r>
              <a:rPr lang="en-US" sz="1300" b="1" dirty="0">
                <a:solidFill>
                  <a:srgbClr val="1D1C1D"/>
                </a:solidFill>
                <a:latin typeface="+mn-lt"/>
                <a:cs typeface="Calibri" panose="020F0502020204030204" pitchFamily="34" charset="0"/>
              </a:rPr>
              <a:t>Call Statistics</a:t>
            </a:r>
            <a:r>
              <a:rPr lang="tr-TR" sz="1300" b="1" dirty="0">
                <a:solidFill>
                  <a:srgbClr val="1D1C1D"/>
                </a:solidFill>
                <a:latin typeface="+mn-lt"/>
                <a:cs typeface="Calibri" panose="020F0502020204030204" pitchFamily="34" charset="0"/>
              </a:rPr>
              <a:t> </a:t>
            </a:r>
            <a:r>
              <a:rPr lang="tr-TR" sz="1300" b="1" dirty="0">
                <a:solidFill>
                  <a:srgbClr val="7030A0"/>
                </a:solidFill>
              </a:rPr>
              <a:t>BS</a:t>
            </a:r>
            <a:br>
              <a:rPr lang="en-US" sz="1300" dirty="0">
                <a:latin typeface="+mn-lt"/>
              </a:rPr>
            </a:br>
            <a:r>
              <a:rPr lang="tr-TR" sz="1300" dirty="0">
                <a:latin typeface="+mn-lt"/>
              </a:rPr>
              <a:t>  </a:t>
            </a: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Total Attempts:</a:t>
            </a:r>
            <a:r>
              <a:rPr lang="tr-TR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252</a:t>
            </a:r>
            <a:b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</a:b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 </a:t>
            </a:r>
            <a:r>
              <a:rPr lang="tr-TR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Total Reached:</a:t>
            </a:r>
            <a:r>
              <a:rPr lang="tr-TR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95 </a:t>
            </a:r>
            <a:r>
              <a:rPr lang="tr-TR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(</a:t>
            </a:r>
            <a:r>
              <a:rPr lang="tr-TR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37</a:t>
            </a:r>
            <a:r>
              <a:rPr lang="tr-TR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.70%)</a:t>
            </a:r>
            <a:b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</a:b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 </a:t>
            </a:r>
            <a:r>
              <a:rPr lang="tr-TR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Total Not Reached</a:t>
            </a:r>
            <a:r>
              <a:rPr lang="tr-TR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: </a:t>
            </a:r>
            <a:r>
              <a:rPr lang="tr-TR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157</a:t>
            </a:r>
            <a:r>
              <a:rPr lang="tr-TR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 (</a:t>
            </a:r>
            <a:r>
              <a:rPr lang="tr-TR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62</a:t>
            </a:r>
            <a:r>
              <a:rPr lang="tr-TR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.30%)</a:t>
            </a:r>
            <a:endParaRPr lang="tr-TR" sz="13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98CF78-5C2D-B116-2143-08ABE5E84DDC}"/>
              </a:ext>
            </a:extLst>
          </p:cNvPr>
          <p:cNvSpPr txBox="1"/>
          <p:nvPr/>
        </p:nvSpPr>
        <p:spPr>
          <a:xfrm>
            <a:off x="233045" y="2505189"/>
            <a:ext cx="2617694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300" dirty="0">
                <a:latin typeface="+mn-lt"/>
              </a:rPr>
              <a:t>- </a:t>
            </a:r>
            <a:r>
              <a:rPr lang="en-US" sz="1300" b="1" dirty="0">
                <a:solidFill>
                  <a:srgbClr val="1D1C1D"/>
                </a:solidFill>
                <a:latin typeface="+mn-lt"/>
                <a:cs typeface="Calibri" panose="020F0502020204030204" pitchFamily="34" charset="0"/>
              </a:rPr>
              <a:t>Call Statistics</a:t>
            </a:r>
            <a:r>
              <a:rPr lang="tr-TR" sz="1300" b="1" dirty="0">
                <a:solidFill>
                  <a:srgbClr val="1D1C1D"/>
                </a:solidFill>
                <a:latin typeface="+mn-lt"/>
                <a:cs typeface="Calibri" panose="020F0502020204030204" pitchFamily="34" charset="0"/>
              </a:rPr>
              <a:t> </a:t>
            </a:r>
            <a:r>
              <a:rPr lang="tr-TR" sz="1400" b="1" dirty="0">
                <a:solidFill>
                  <a:srgbClr val="0070C0"/>
                </a:solidFill>
              </a:rPr>
              <a:t>SB</a:t>
            </a:r>
            <a:br>
              <a:rPr lang="en-US" sz="1300" dirty="0">
                <a:latin typeface="+mn-lt"/>
              </a:rPr>
            </a:br>
            <a:r>
              <a:rPr lang="tr-TR" sz="1300" dirty="0">
                <a:latin typeface="+mn-lt"/>
              </a:rPr>
              <a:t>  </a:t>
            </a: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Total Attempts:</a:t>
            </a:r>
            <a:r>
              <a:rPr lang="tr-TR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 493</a:t>
            </a:r>
          </a:p>
          <a:p>
            <a:r>
              <a:rPr lang="tr-TR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  </a:t>
            </a: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Total Reached:</a:t>
            </a:r>
            <a:r>
              <a:rPr lang="tr-TR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 </a:t>
            </a:r>
            <a:r>
              <a:rPr lang="tr-TR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191</a:t>
            </a:r>
            <a:r>
              <a:rPr lang="tr-TR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 (38.54%)</a:t>
            </a:r>
            <a:b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</a:b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 </a:t>
            </a:r>
            <a:r>
              <a:rPr lang="tr-TR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Total Not Reached:</a:t>
            </a:r>
            <a:r>
              <a:rPr lang="tr-TR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 </a:t>
            </a:r>
            <a:r>
              <a:rPr lang="tr-TR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302</a:t>
            </a:r>
            <a:r>
              <a:rPr lang="tr-TR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 (61.46%)</a:t>
            </a:r>
            <a:endParaRPr lang="tr-TR" sz="13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7CDA54-7A26-3D48-C421-57D7C21DA978}"/>
              </a:ext>
            </a:extLst>
          </p:cNvPr>
          <p:cNvSpPr txBox="1"/>
          <p:nvPr/>
        </p:nvSpPr>
        <p:spPr>
          <a:xfrm>
            <a:off x="8218602" y="2488591"/>
            <a:ext cx="2563386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300" b="1" dirty="0">
                <a:solidFill>
                  <a:srgbClr val="1D1C1D"/>
                </a:solidFill>
                <a:latin typeface="+mn-lt"/>
                <a:cs typeface="Calibri" panose="020F0502020204030204" pitchFamily="34" charset="0"/>
              </a:rPr>
              <a:t> -</a:t>
            </a:r>
            <a:r>
              <a:rPr lang="en-US" sz="1300" b="1" dirty="0">
                <a:solidFill>
                  <a:srgbClr val="1D1C1D"/>
                </a:solidFill>
                <a:latin typeface="+mn-lt"/>
                <a:cs typeface="Calibri" panose="020F0502020204030204" pitchFamily="34" charset="0"/>
              </a:rPr>
              <a:t>Call Statistics</a:t>
            </a:r>
            <a:r>
              <a:rPr lang="tr-TR" sz="1300" b="1" dirty="0">
                <a:solidFill>
                  <a:srgbClr val="1D1C1D"/>
                </a:solidFill>
                <a:latin typeface="+mn-lt"/>
                <a:cs typeface="Calibri" panose="020F0502020204030204" pitchFamily="34" charset="0"/>
              </a:rPr>
              <a:t> </a:t>
            </a:r>
            <a:r>
              <a:rPr lang="tr-TR" sz="1300" b="1" dirty="0">
                <a:solidFill>
                  <a:srgbClr val="FF0000"/>
                </a:solidFill>
              </a:rPr>
              <a:t>TB</a:t>
            </a:r>
            <a:br>
              <a:rPr lang="en-US" sz="1300" dirty="0">
                <a:latin typeface="+mn-lt"/>
              </a:rPr>
            </a:br>
            <a:r>
              <a:rPr lang="tr-TR" sz="1300" dirty="0">
                <a:latin typeface="+mn-lt"/>
              </a:rPr>
              <a:t>  </a:t>
            </a: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Total Attempts:</a:t>
            </a:r>
            <a:r>
              <a:rPr lang="tr-TR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 73</a:t>
            </a:r>
            <a:endParaRPr lang="tr-TR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tr-TR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  </a:t>
            </a: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Total Reached:</a:t>
            </a:r>
            <a:r>
              <a:rPr lang="tr-TR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 26 (</a:t>
            </a:r>
            <a:r>
              <a:rPr lang="tr-TR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35.62</a:t>
            </a:r>
            <a:r>
              <a:rPr lang="tr-TR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%)</a:t>
            </a:r>
            <a:b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</a:b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 </a:t>
            </a:r>
            <a:r>
              <a:rPr lang="tr-TR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Total Not Reached</a:t>
            </a:r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:</a:t>
            </a:r>
            <a:r>
              <a:rPr lang="tr-TR" sz="13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tr-TR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47</a:t>
            </a:r>
            <a:r>
              <a:rPr lang="tr-TR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 (64.38%)</a:t>
            </a:r>
            <a:endParaRPr lang="tr-TR" sz="13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25DFDD8-C13F-0EDD-2774-F75B0276F0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1513" y="-119"/>
            <a:ext cx="1765861" cy="630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E50ACC3-139B-F0A1-2BC7-E949ED355C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5531" y="100101"/>
            <a:ext cx="2189074" cy="5251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F86A79C-FFAA-437D-5B6A-E7CE7E178B2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484" y="-91310"/>
            <a:ext cx="3120752" cy="90793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2FA42B7-3DFF-99AB-861F-7327B14435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207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404422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111367</TotalTime>
  <Words>767</Words>
  <Application>Microsoft Office PowerPoint</Application>
  <PresentationFormat>Widescreen</PresentationFormat>
  <Paragraphs>83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 Narrow</vt:lpstr>
      <vt:lpstr>Arial</vt:lpstr>
      <vt:lpstr>Calibri</vt:lpstr>
      <vt:lpstr>Calibri Light</vt:lpstr>
      <vt:lpstr>Menlo</vt:lpstr>
      <vt:lpstr>Slack-Lato</vt:lpstr>
      <vt:lpstr>Retrospect</vt:lpstr>
      <vt:lpstr>PowerPoint Presentation</vt:lpstr>
      <vt:lpstr>Missed Chats</vt:lpstr>
      <vt:lpstr>Response Time and Chat Duration  </vt:lpstr>
      <vt:lpstr> Chatbot Statistics </vt:lpstr>
      <vt:lpstr>Missed Chat</vt:lpstr>
      <vt:lpstr>Missed Chat</vt:lpstr>
      <vt:lpstr>Missed Chat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tbsabri</dc:creator>
  <cp:lastModifiedBy>Emre Dean</cp:lastModifiedBy>
  <cp:revision>4340</cp:revision>
  <cp:lastPrinted>2023-11-23T08:04:37Z</cp:lastPrinted>
  <dcterms:created xsi:type="dcterms:W3CDTF">2023-11-23T06:48:26Z</dcterms:created>
  <dcterms:modified xsi:type="dcterms:W3CDTF">2026-07-07T02:31:46Z</dcterms:modified>
</cp:coreProperties>
</file>