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handoutMasterIdLst>
    <p:handoutMasterId r:id="rId12"/>
  </p:handoutMasterIdLst>
  <p:sldIdLst>
    <p:sldId id="260" r:id="rId2"/>
    <p:sldId id="269" r:id="rId3"/>
    <p:sldId id="258" r:id="rId4"/>
    <p:sldId id="268" r:id="rId5"/>
    <p:sldId id="261" r:id="rId6"/>
    <p:sldId id="256" r:id="rId7"/>
    <p:sldId id="263" r:id="rId8"/>
    <p:sldId id="265" r:id="rId9"/>
    <p:sldId id="257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4794B59-B17A-4C71-A66A-F8BDC437409A}">
          <p14:sldIdLst>
            <p14:sldId id="260"/>
            <p14:sldId id="269"/>
            <p14:sldId id="258"/>
            <p14:sldId id="268"/>
            <p14:sldId id="261"/>
            <p14:sldId id="256"/>
            <p14:sldId id="263"/>
          </p14:sldIdLst>
        </p14:section>
        <p14:section name="Untitled Section" id="{3AF6E42E-D35F-42A9-B282-A72D0D982A79}">
          <p14:sldIdLst>
            <p14:sldId id="265"/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bsabri" initials="t" lastIdx="1" clrIdx="0">
    <p:extLst>
      <p:ext uri="{19B8F6BF-5375-455C-9EA6-DF929625EA0E}">
        <p15:presenceInfo xmlns:p15="http://schemas.microsoft.com/office/powerpoint/2012/main" userId="S-1-5-21-3398917992-3443651213-3871913328-3087" providerId="AD"/>
      </p:ext>
    </p:extLst>
  </p:cmAuthor>
  <p:cmAuthor id="2" name="Erhan" initials="E" lastIdx="1" clrIdx="1">
    <p:extLst>
      <p:ext uri="{19B8F6BF-5375-455C-9EA6-DF929625EA0E}">
        <p15:presenceInfo xmlns:p15="http://schemas.microsoft.com/office/powerpoint/2012/main" userId="S-1-5-21-3398917992-3443651213-3871913328-2132" providerId="AD"/>
      </p:ext>
    </p:extLst>
  </p:cmAuthor>
  <p:cmAuthor id="3" name="Beyza" initials="B" lastIdx="1" clrIdx="2">
    <p:extLst>
      <p:ext uri="{19B8F6BF-5375-455C-9EA6-DF929625EA0E}">
        <p15:presenceInfo xmlns:p15="http://schemas.microsoft.com/office/powerpoint/2012/main" userId="S-1-5-21-3398917992-3443651213-3871913328-1487" providerId="AD"/>
      </p:ext>
    </p:extLst>
  </p:cmAuthor>
  <p:cmAuthor id="4" name="BPO-9" initials="B" lastIdx="6" clrIdx="3">
    <p:extLst>
      <p:ext uri="{19B8F6BF-5375-455C-9EA6-DF929625EA0E}">
        <p15:presenceInfo xmlns:p15="http://schemas.microsoft.com/office/powerpoint/2012/main" userId="BPO-9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CC33"/>
    <a:srgbClr val="C49F00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24" autoAdjust="0"/>
    <p:restoredTop sz="94687" autoAdjust="0"/>
  </p:normalViewPr>
  <p:slideViewPr>
    <p:cSldViewPr snapToGrid="0">
      <p:cViewPr varScale="1">
        <p:scale>
          <a:sx n="106" d="100"/>
          <a:sy n="106" d="100"/>
        </p:scale>
        <p:origin x="720" y="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AAFB28B-3112-0564-E20D-407C9BBD24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928AA5-19B6-7882-EF20-76A0E9C2272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471C40-3D60-4EEE-9476-FAC168200B9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30506-353C-38D6-13EE-223B4316F8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266FAD-40EE-E941-1387-0DECEFD999F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19FBC1-E320-4547-B793-E0F31E0D32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1435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F43B6-ADC6-40F6-994E-F2B50DDA6FE1}" type="datetimeFigureOut">
              <a:rPr lang="tr-TR" smtClean="0"/>
              <a:t>7.07.2026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F08953-659A-4F40-A6F7-8D18828E9D5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2272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1A29-BD88-C46C-E6E3-80BE8D4A6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15417-E261-E0EC-11A3-D1E3A494B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2D5AE-BA6F-F595-74F9-9B4906FEC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D80BA-69E7-E615-E016-ED3362C24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7039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8D19D-9876-191F-C4E5-369EE99AC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4A74B-783A-6286-4935-C1E2D394F7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A3B3E-3D35-8793-C2F7-3FA56774C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765A-6779-713F-100E-EC54BA360F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65212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7090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FF910-BD48-87B5-C5C3-76284EC77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F6DC6-7AFC-A94B-D7E7-F2F01C7C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67318-AB00-FB17-7299-0638C2EEA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039F4-2FF7-B874-1C6F-9ACC96A550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7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008625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1A80-8DCF-7C47-BD4D-E1EC54AB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D3576F-B033-2179-9B73-27152118F6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232A8-07A5-4A61-04B2-8E72C41D5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B1ADF-F6F0-3796-8E16-83F48919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8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05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F08953-659A-4F40-A6F7-8D18828E9D53}" type="slidenum">
              <a:rPr lang="tr-TR" smtClean="0"/>
              <a:t>9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067356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3533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776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169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433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98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285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784848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729984"/>
            <a:ext cx="12188825" cy="54864"/>
          </a:xfrm>
          <a:prstGeom prst="rect">
            <a:avLst/>
          </a:prstGeom>
          <a:solidFill>
            <a:srgbClr val="1B24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1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867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377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81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4865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880115-182B-4806-AF9C-E6569CE08E03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0CE1409-2C92-465E-A3B9-F35835A6A017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53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8.png"/><Relationship Id="rId7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4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568A-8F6A-20E8-EBF2-C73E8C479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259380"/>
            <a:ext cx="10058400" cy="306573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E5DC0-992F-F69E-CA6C-9A42817A1F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200000"/>
              </a:lnSpc>
            </a:pPr>
            <a:r>
              <a:rPr lang="tr-TR" b="1" dirty="0">
                <a:solidFill>
                  <a:srgbClr val="FFFFFF"/>
                </a:solidFill>
                <a:latin typeface="Slack-Lato"/>
              </a:rPr>
              <a:t>CS TEAM_DAILY_CHAT_STATS_{{REPORT_DATE}}</a:t>
            </a:r>
            <a:r>
              <a:rPr lang="tr-TR" b="1" dirty="0" err="1">
                <a:solidFill>
                  <a:srgbClr val="FFFFFF"/>
                </a:solidFill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 err="1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en-US" b="1" i="0" dirty="0">
                <a:solidFill>
                  <a:srgbClr val="FFFFFF"/>
                </a:solidFill>
                <a:effectLst/>
                <a:latin typeface="Slack-Lato"/>
              </a:rPr>
              <a:t/>
            </a:r>
            <a:r>
              <a:rPr lang="tr-TR" b="1" dirty="0">
                <a:solidFill>
                  <a:srgbClr val="FFFFFF"/>
                </a:solidFill>
                <a:latin typeface="Slack-Lato"/>
              </a:rPr>
              <a:t/>
            </a:r>
            <a:endParaRPr lang="en-US" b="1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F3363-85A6-46F2-3D0D-ED4911DAE5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897" y="1128873"/>
            <a:ext cx="10768206" cy="33267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55778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8A93A6"/>
                </a:solidFill>
              </a:rPr>
              <a:t>(Yorum / not eklemek için buraya tıklayın)</a:t>
            </a:r>
          </a:p>
        </p:txBody>
      </p:sp>
    </p:spTree>
    <p:extLst>
      <p:ext uri="{BB962C8B-B14F-4D97-AF65-F5344CB8AC3E}">
        <p14:creationId xmlns:p14="http://schemas.microsoft.com/office/powerpoint/2010/main" val="3608186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5F54F-A9B5-48A9-C7D6-73BA552A2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1752BE1-57AD-F7EE-5BE6-53A5B702390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268070" y="1098977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Chats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F1D639DB-A6C3-C59A-71C7-1090F11B0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C2E73D-5517-D129-E75C-6C5AE9B56BD8}"/>
              </a:ext>
            </a:extLst>
          </p:cNvPr>
          <p:cNvSpPr txBox="1"/>
          <p:nvPr/>
        </p:nvSpPr>
        <p:spPr>
          <a:xfrm>
            <a:off x="9832063" y="4544568"/>
            <a:ext cx="2255146" cy="8138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200" b="1" dirty="0">
                <a:effectLst/>
              </a:rPr>
            </a:br>
            <a:r>
              <a:rPr lang="en-US" sz="1200" dirty="0">
                <a:effectLst/>
              </a:rPr>
              <a:t>{{S2_NOTE}}</a:t>
            </a:r>
            <a:br>
              <a:rPr lang="tr-TR" sz="1200" dirty="0">
                <a:effectLst/>
              </a:rPr>
            </a:br>
            <a:br>
              <a:rPr lang="tr-TR" sz="1200" dirty="0">
                <a:effectLst/>
              </a:rPr>
            </a:br>
            <a:r>
              <a:rPr lang="en-US" sz="1200" dirty="0">
                <a:effectLst/>
              </a:rPr>
              <a:t/>
            </a:r>
            <a:r>
              <a:rPr lang="tr-TR" sz="1200" dirty="0">
                <a:effectLst/>
              </a:rPr>
              <a:t/>
            </a:r>
            <a:r>
              <a:rPr lang="en-US" sz="1200" dirty="0">
                <a:effectLst/>
              </a:rPr>
              <a:t/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endParaRPr lang="tr-TR" sz="1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185DB6-46F1-8373-B85F-61847FAEB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90373"/>
            <a:ext cx="1228896" cy="106679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DF6A355-BE80-CD2C-C5DE-FB4C9AF5F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9750" y="253133"/>
            <a:ext cx="2255145" cy="53912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D646C32-3399-D4FB-6E74-93F26CF3C1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766" y="171000"/>
            <a:ext cx="2420020" cy="623155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8A96FF3-C615-1B0D-E90C-42C84A4FD6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934" y="51305"/>
            <a:ext cx="2703776" cy="8661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037BAF-9AE6-101B-001B-27B29E4F9BC3}"/>
              </a:ext>
            </a:extLst>
          </p:cNvPr>
          <p:cNvSpPr txBox="1"/>
          <p:nvPr/>
        </p:nvSpPr>
        <p:spPr>
          <a:xfrm>
            <a:off x="0" y="4960642"/>
            <a:ext cx="181069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effectLst/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{{S2_H1_HSTART}}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 –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{{S2_H1_HEND}}</a:t>
            </a:r>
            <a:r>
              <a:rPr lang="en-US" sz="1000" b="0" i="0" dirty="0">
                <a:effectLst/>
                <a:latin typeface="Arial" panose="020B0604020202020204" pitchFamily="34" charset="0"/>
              </a:rPr>
              <a:t>:00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Total chats: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{{S2_H1_TOTAL}}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Served chats: 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{{S2_H1_SERVED}}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{{S2_H1_MISSED}}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Success: 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{{S2_H1_SUCCESS}}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Available Agents: </a:t>
            </a:r>
            <a:r>
              <a:rPr lang="tr-TR" sz="1000" dirty="0">
                <a:latin typeface="Arial" panose="020B0604020202020204" pitchFamily="34" charset="0"/>
              </a:rPr>
              <a:t>{{S2_H1_AGENTS}}</a:t>
            </a:r>
            <a:br>
              <a:rPr lang="en-US" sz="1000" dirty="0"/>
            </a:br>
            <a:r>
              <a:rPr lang="en-US" sz="1000" b="0" i="0" dirty="0">
                <a:effectLst/>
                <a:latin typeface="Arial" panose="020B0604020202020204" pitchFamily="34" charset="0"/>
              </a:rPr>
              <a:t>Avg. Chat per agent/h: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> </a:t>
            </a:r>
            <a:r>
              <a:rPr lang="tr-TR" sz="1000" dirty="0">
                <a:latin typeface="Arial" panose="020B0604020202020204" pitchFamily="34" charset="0"/>
              </a:rPr>
              <a:t>{{S2_H1_CPA}}</a:t>
            </a:r>
            <a:r>
              <a:rPr lang="tr-TR" sz="1000" b="0" i="0" dirty="0">
                <a:effectLst/>
                <a:latin typeface="Arial" panose="020B0604020202020204" pitchFamily="34" charset="0"/>
              </a:rPr>
              <a:t/>
            </a:r>
            <a:endParaRPr lang="en-US" sz="1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0AE8E3-1406-815F-32EC-F7728372CF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3" y="1388537"/>
            <a:ext cx="9723422" cy="326088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0861F8-1430-E4E2-7AF4-49C0C3125847}"/>
              </a:ext>
            </a:extLst>
          </p:cNvPr>
          <p:cNvSpPr txBox="1"/>
          <p:nvPr/>
        </p:nvSpPr>
        <p:spPr>
          <a:xfrm>
            <a:off x="1910281" y="4960641"/>
            <a:ext cx="185596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{{S2_H2_HSTART}}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{{S2_H2_HEND}}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{{S2_H2_TOTAL}}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{{S2_H2_SERVED}}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{{S2_H2_MISSED}}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{{S2_H2_SUCCESS}}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{{S2_H2_AGENTS}}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{{S2_H2_CPA}}</a:t>
            </a:r>
            <a:endParaRPr lang="en-US" sz="1000" dirty="0">
              <a:latin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201B22-D31F-45D9-7A32-9167BD10B3F1}"/>
              </a:ext>
            </a:extLst>
          </p:cNvPr>
          <p:cNvSpPr txBox="1"/>
          <p:nvPr/>
        </p:nvSpPr>
        <p:spPr>
          <a:xfrm>
            <a:off x="3766241" y="4960641"/>
            <a:ext cx="18279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</a:rPr>
              <a:t>Between: </a:t>
            </a:r>
            <a:r>
              <a:rPr lang="tr-TR" sz="1000" dirty="0">
                <a:latin typeface="Arial" panose="020B0604020202020204" pitchFamily="34" charset="0"/>
              </a:rPr>
              <a:t>{{S2_H3_HSTART}}</a:t>
            </a:r>
            <a:r>
              <a:rPr lang="en-US" sz="1000" dirty="0">
                <a:latin typeface="Arial" panose="020B0604020202020204" pitchFamily="34" charset="0"/>
              </a:rPr>
              <a:t>:00 – </a:t>
            </a:r>
            <a:r>
              <a:rPr lang="tr-TR" sz="1000" dirty="0">
                <a:latin typeface="Arial" panose="020B0604020202020204" pitchFamily="34" charset="0"/>
              </a:rPr>
              <a:t>{{S2_H3_HEND}}</a:t>
            </a:r>
            <a:r>
              <a:rPr lang="en-US" sz="1000" dirty="0">
                <a:latin typeface="Arial" panose="020B0604020202020204" pitchFamily="34" charset="0"/>
              </a:rPr>
              <a:t>:00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Total chats:</a:t>
            </a:r>
            <a:r>
              <a:rPr lang="tr-TR" sz="1000" dirty="0">
                <a:latin typeface="Arial" panose="020B0604020202020204" pitchFamily="34" charset="0"/>
              </a:rPr>
              <a:t> {{S2_H3_TOTAL}}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Served chats: </a:t>
            </a:r>
            <a:r>
              <a:rPr lang="tr-TR" sz="1000" dirty="0">
                <a:latin typeface="Arial" panose="020B0604020202020204" pitchFamily="34" charset="0"/>
              </a:rPr>
              <a:t>{{S2_H3_SERVED}}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Missed chats: </a:t>
            </a:r>
            <a:r>
              <a:rPr lang="tr-TR" sz="1000" dirty="0">
                <a:latin typeface="Arial" panose="020B0604020202020204" pitchFamily="34" charset="0"/>
              </a:rPr>
              <a:t>{{S2_H3_MISSED}}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Success: </a:t>
            </a:r>
            <a:r>
              <a:rPr lang="tr-TR" sz="1000" dirty="0">
                <a:latin typeface="Arial" panose="020B0604020202020204" pitchFamily="34" charset="0"/>
              </a:rPr>
              <a:t>{{S2_H3_SUCCESS}}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Available Agents:</a:t>
            </a:r>
            <a:r>
              <a:rPr lang="tr-TR" sz="1000" dirty="0">
                <a:latin typeface="Arial" panose="020B0604020202020204" pitchFamily="34" charset="0"/>
              </a:rPr>
              <a:t>{{S2_H3_AGENTS}}</a:t>
            </a:r>
            <a:br>
              <a:rPr lang="en-US" sz="1000" dirty="0">
                <a:latin typeface="Arial" panose="020B0604020202020204" pitchFamily="34" charset="0"/>
              </a:rPr>
            </a:br>
            <a:r>
              <a:rPr lang="en-US" sz="1000" dirty="0">
                <a:latin typeface="Arial" panose="020B0604020202020204" pitchFamily="34" charset="0"/>
              </a:rPr>
              <a:t>Avg. Chat per agent/h:</a:t>
            </a:r>
            <a:r>
              <a:rPr lang="tr-TR" sz="1000" dirty="0">
                <a:latin typeface="Arial" panose="020B0604020202020204" pitchFamily="34" charset="0"/>
              </a:rPr>
              <a:t> {{S2_H3_CPA}}</a:t>
            </a:r>
            <a:endParaRPr lang="en-US" sz="1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5233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765EB3-2DC0-F011-D90C-10093A221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53" y="1128230"/>
            <a:ext cx="4619289" cy="660922"/>
          </a:xfrm>
        </p:spPr>
        <p:txBody>
          <a:bodyPr>
            <a:noAutofit/>
          </a:bodyPr>
          <a:lstStyle/>
          <a:p>
            <a:r>
              <a:rPr lang="tr-TR" sz="2000" b="1" dirty="0"/>
              <a:t>Response Time and Chat Duration </a:t>
            </a:r>
            <a:br>
              <a:rPr lang="tr-TR" sz="2000" dirty="0"/>
            </a:br>
            <a:endParaRPr lang="en-US" sz="20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356443A-965A-A022-4F9D-58C8A341B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63197-E227-5EC8-027F-78C1EF5F8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1DF7B45-0C4B-C668-EB1A-D18CB9D2B0AD}"/>
              </a:ext>
            </a:extLst>
          </p:cNvPr>
          <p:cNvSpPr txBox="1"/>
          <p:nvPr/>
        </p:nvSpPr>
        <p:spPr>
          <a:xfrm>
            <a:off x="9867922" y="1789152"/>
            <a:ext cx="24055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Explanation</a:t>
            </a:r>
            <a:br>
              <a:rPr lang="tr-TR" sz="1400" b="1" dirty="0"/>
            </a:br>
            <a:endParaRPr lang="en-US" sz="1400" b="1" dirty="0"/>
          </a:p>
          <a:p>
            <a:pPr marL="0" indent="0">
              <a:spcBef>
                <a:spcPts val="0"/>
              </a:spcBef>
              <a:buSzPts val="2000"/>
              <a:buNone/>
            </a:pPr>
            <a:r>
              <a:rPr lang="tr-TR" sz="1400" b="1" dirty="0" err="1"/>
              <a:t>Avg</a:t>
            </a:r>
            <a:r>
              <a:rPr lang="tr-TR" sz="1400" b="1" dirty="0"/>
              <a:t>. response time: {{S3_RESPONSE}}</a:t>
            </a:r>
            <a:r>
              <a:rPr lang="en-US" sz="1400" b="1" dirty="0"/>
              <a:t>s</a:t>
            </a:r>
            <a:br>
              <a:rPr lang="tr-TR" sz="1400" b="1" dirty="0"/>
            </a:br>
            <a:r>
              <a:rPr lang="tr-TR" sz="1400" b="1" dirty="0"/>
              <a:t>Avg. First response time: {{S3_FIRST_RESPONSE}}</a:t>
            </a:r>
            <a:br>
              <a:rPr lang="tr-TR" sz="1400" b="1" dirty="0"/>
            </a:br>
            <a:r>
              <a:rPr lang="tr-TR" sz="1400" b="1" dirty="0"/>
              <a:t>Avg. Wait Time: {{S3_WAIT}}</a:t>
            </a:r>
            <a:br>
              <a:rPr lang="tr-TR" sz="1400" b="1" dirty="0"/>
            </a:br>
            <a:r>
              <a:rPr lang="tr-TR" sz="1400" b="1" dirty="0"/>
              <a:t>Avg. Chat Duration: {{S3_DURATION}}</a:t>
            </a:r>
            <a:endParaRPr lang="tr-TR" sz="12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1F07594-055B-5DFA-3B81-FA0E3D4AE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407" y="313374"/>
            <a:ext cx="2255145" cy="5391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D0801AE-D06B-F625-52CC-2C69FF3C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4608" y="264161"/>
            <a:ext cx="2420020" cy="623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CBE7C4-4263-72EC-4D1B-377A0A857E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4396"/>
            <a:ext cx="3684494" cy="1180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CF0EED-9A77-0632-AEBE-F7DEA1FFFF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" y="1728670"/>
            <a:ext cx="9750582" cy="359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47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5EC240-487A-CE5C-F6F5-893C0BAAF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2555" y="1531954"/>
            <a:ext cx="3645084" cy="407406"/>
          </a:xfrm>
        </p:spPr>
        <p:txBody>
          <a:bodyPr>
            <a:noAutofit/>
          </a:bodyPr>
          <a:lstStyle/>
          <a:p>
            <a:pPr algn="ctr"/>
            <a:r>
              <a:rPr lang="tr-TR" sz="2800" b="1" dirty="0">
                <a:latin typeface="+mn-lt"/>
              </a:rPr>
              <a:t> Chatbot Statistics</a:t>
            </a:r>
            <a:br>
              <a:rPr lang="en-US" sz="2800" dirty="0">
                <a:latin typeface="+mn-lt"/>
              </a:rPr>
            </a:br>
            <a:endParaRPr lang="en-US" sz="2800" dirty="0"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A273B-F287-1ED8-3DD3-BB5F494A82D0}"/>
              </a:ext>
            </a:extLst>
          </p:cNvPr>
          <p:cNvSpPr txBox="1"/>
          <p:nvPr/>
        </p:nvSpPr>
        <p:spPr>
          <a:xfrm>
            <a:off x="9996105" y="1939360"/>
            <a:ext cx="234376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  All chatbots;</a:t>
            </a:r>
          </a:p>
          <a:p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{{S4_BOT_ONLY}}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{{S4_BOT_TO_AGENT}}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{{S4_BOT_PCT}}</a:t>
            </a:r>
            <a:r>
              <a:rPr lang="tr-TR" sz="1200" b="1" dirty="0"/>
              <a:t>%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usage : {{S4_ACTION_USAGE}}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Action per chat : {{S4_ACTION_PER_CHAT}}</a:t>
            </a:r>
            <a:endParaRPr lang="tr-TR" sz="1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A383E6-CF7D-4BDE-7F41-B97BAB559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287" y="132784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CB8DDD-CE6C-82A2-DCB0-7D22579D75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422" y="112195"/>
            <a:ext cx="2557502" cy="6134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AFA020-0DC7-D5CD-76AB-0B7422FBC1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787" y="-131447"/>
            <a:ext cx="3436342" cy="11007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56836-18F5-9541-4D55-41083B35C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EC687A4-7545-7AD5-0755-41A4E89EC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35657"/>
            <a:ext cx="9759636" cy="3351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559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7AA08-F84D-0433-F9BF-D81841B57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08B07F04-658C-54BE-82B4-5945435F7B7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737302"/>
            <a:ext cx="1943767" cy="448697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B0620390-58AF-804F-2682-68ADF43D97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C552F7-6D39-2AAC-EE22-7D077A7DD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BB6E515-ED50-FD08-F9CD-95FFF479439B}"/>
              </a:ext>
            </a:extLst>
          </p:cNvPr>
          <p:cNvSpPr txBox="1"/>
          <p:nvPr/>
        </p:nvSpPr>
        <p:spPr>
          <a:xfrm>
            <a:off x="9349998" y="926808"/>
            <a:ext cx="295835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tr-TR" sz="1100" dirty="0"/>
            </a:br>
            <a:endParaRPr lang="tr-TR" sz="1100" dirty="0"/>
          </a:p>
          <a:p>
            <a:br>
              <a:rPr lang="tr-TR" sz="1100" dirty="0"/>
            </a:br>
            <a:br>
              <a:rPr lang="tr-TR" sz="1100" dirty="0"/>
            </a:br>
            <a:endParaRPr lang="tr-TR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5AB0B3-3EE2-0EFB-818C-FF48AEBEFB74}"/>
              </a:ext>
            </a:extLst>
          </p:cNvPr>
          <p:cNvSpPr txBox="1"/>
          <p:nvPr/>
        </p:nvSpPr>
        <p:spPr>
          <a:xfrm>
            <a:off x="10090908" y="1396167"/>
            <a:ext cx="2651988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1350"/>
              </a:lnSpc>
            </a:pPr>
            <a:r>
              <a:rPr lang="en-US" sz="1200" dirty="0"/>
              <a:t>Explanation;</a:t>
            </a:r>
            <a:br>
              <a:rPr lang="tr-TR" sz="1200" b="1" dirty="0"/>
            </a:br>
            <a:r>
              <a:rPr lang="tr-TR" sz="1200" b="1" dirty="0"/>
              <a:t>- Total Chats: {{S5_TOTAL}}</a:t>
            </a:r>
            <a:br>
              <a:rPr lang="tr-TR" sz="1200" b="1" dirty="0"/>
            </a:br>
            <a:r>
              <a:rPr lang="tr-TR" sz="1200" b="1" dirty="0"/>
              <a:t>- Total served chats: {{S5_SERVED}}</a:t>
            </a:r>
            <a:br>
              <a:rPr lang="tr-TR" sz="1200" b="1" dirty="0"/>
            </a:br>
            <a:r>
              <a:rPr lang="tr-TR" sz="1200" b="1" dirty="0"/>
              <a:t>- Total Missed chats: {{S5_MISSED}}</a:t>
            </a:r>
            <a:br>
              <a:rPr lang="tr-TR" sz="1200" b="1" dirty="0"/>
            </a:br>
            <a:r>
              <a:rPr lang="tr-TR" sz="1200" b="1" dirty="0"/>
              <a:t>- Succes: </a:t>
            </a:r>
            <a:r>
              <a:rPr lang="tr-TR" sz="1200" b="1" dirty="0">
                <a:solidFill>
                  <a:srgbClr val="000000"/>
                </a:solidFill>
              </a:rPr>
              <a:t>{{S5_SUCCESS}}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br>
              <a:rPr lang="tr-TR" sz="1200" b="1" dirty="0"/>
            </a:br>
            <a:endParaRPr lang="tr-TR" sz="1200" b="1" dirty="0">
              <a:solidFill>
                <a:srgbClr val="1D1C1D"/>
              </a:solidFill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0BE0B5F-A27F-E432-8E3C-D29BB6735212}"/>
              </a:ext>
            </a:extLst>
          </p:cNvPr>
          <p:cNvSpPr txBox="1">
            <a:spLocks/>
          </p:cNvSpPr>
          <p:nvPr/>
        </p:nvSpPr>
        <p:spPr>
          <a:xfrm>
            <a:off x="202264" y="401097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DFFD9B9-001D-2235-8733-6B596C9C85F9}"/>
              </a:ext>
            </a:extLst>
          </p:cNvPr>
          <p:cNvSpPr txBox="1">
            <a:spLocks/>
          </p:cNvSpPr>
          <p:nvPr/>
        </p:nvSpPr>
        <p:spPr>
          <a:xfrm>
            <a:off x="136950" y="4103095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EFB16-C4D3-0174-F968-77F5E1A418C1}"/>
              </a:ext>
            </a:extLst>
          </p:cNvPr>
          <p:cNvSpPr txBox="1">
            <a:spLocks/>
          </p:cNvSpPr>
          <p:nvPr/>
        </p:nvSpPr>
        <p:spPr>
          <a:xfrm>
            <a:off x="264635" y="5034483"/>
            <a:ext cx="2096427" cy="110398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200" dirty="0">
              <a:solidFill>
                <a:srgbClr val="1D1C1D"/>
              </a:solidFill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DA8C78-6466-BE52-87D1-6813321BA135}"/>
              </a:ext>
            </a:extLst>
          </p:cNvPr>
          <p:cNvSpPr txBox="1">
            <a:spLocks/>
          </p:cNvSpPr>
          <p:nvPr/>
        </p:nvSpPr>
        <p:spPr>
          <a:xfrm>
            <a:off x="157601" y="4110200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850F08-944B-D678-A253-41461593341C}"/>
              </a:ext>
            </a:extLst>
          </p:cNvPr>
          <p:cNvSpPr txBox="1">
            <a:spLocks/>
          </p:cNvSpPr>
          <p:nvPr/>
        </p:nvSpPr>
        <p:spPr>
          <a:xfrm>
            <a:off x="1815244" y="3917763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6EF4B42-34EE-4DD1-BB0C-2346E88608EC}"/>
              </a:ext>
            </a:extLst>
          </p:cNvPr>
          <p:cNvSpPr txBox="1">
            <a:spLocks/>
          </p:cNvSpPr>
          <p:nvPr/>
        </p:nvSpPr>
        <p:spPr>
          <a:xfrm>
            <a:off x="3677600" y="3817549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29B59DB4-5584-A1C5-DC77-03EB6629D629}"/>
              </a:ext>
            </a:extLst>
          </p:cNvPr>
          <p:cNvSpPr txBox="1">
            <a:spLocks/>
          </p:cNvSpPr>
          <p:nvPr/>
        </p:nvSpPr>
        <p:spPr>
          <a:xfrm>
            <a:off x="219973" y="5034483"/>
            <a:ext cx="1550608" cy="125820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Calibri" panose="020F0502020204030204" pitchFamily="34" charset="0"/>
              <a:buNone/>
            </a:pPr>
            <a:endParaRPr lang="tr-TR" sz="1000" dirty="0">
              <a:solidFill>
                <a:srgbClr val="1D1C1D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CF971A-15AF-1F7C-DAF7-E7489D207F69}"/>
              </a:ext>
            </a:extLst>
          </p:cNvPr>
          <p:cNvSpPr txBox="1"/>
          <p:nvPr/>
        </p:nvSpPr>
        <p:spPr>
          <a:xfrm>
            <a:off x="9986625" y="2540208"/>
            <a:ext cx="232172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lang="tr-TR" sz="1200" dirty="0">
                <a:solidFill>
                  <a:srgbClr val="1D1C1D"/>
                </a:solidFill>
              </a:rPr>
              <a:t>Superbetin chatbot;</a:t>
            </a:r>
            <a:br>
              <a:rPr lang="tr-TR" sz="1200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{{S5_BOT_ONLY}}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</a:t>
            </a:r>
            <a:r>
              <a:rPr lang="tr-TR" sz="1200" b="1" dirty="0">
                <a:solidFill>
                  <a:srgbClr val="000000"/>
                </a:solidFill>
              </a:rPr>
              <a:t>{{S5_BOT_TO_AGENT}}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{{S5_BOT_PCT}}</a:t>
            </a:r>
            <a:r>
              <a:rPr lang="en-US" sz="1200" b="1" i="0" dirty="0">
                <a:solidFill>
                  <a:srgbClr val="000000"/>
                </a:solidFill>
                <a:effectLst/>
              </a:rPr>
              <a:t>%</a:t>
            </a: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tr-TR" sz="1200" b="1" dirty="0">
              <a:solidFill>
                <a:srgbClr val="000000"/>
              </a:solidFill>
            </a:endParaRPr>
          </a:p>
          <a:p>
            <a:pPr algn="l">
              <a:lnSpc>
                <a:spcPts val="1350"/>
              </a:lnSpc>
            </a:pPr>
            <a:endParaRPr lang="tr-TR" sz="1200" b="1" i="0" dirty="0">
              <a:solidFill>
                <a:srgbClr val="000000"/>
              </a:solidFill>
              <a:effectLst/>
            </a:endParaRPr>
          </a:p>
          <a:p>
            <a:pPr algn="l">
              <a:lnSpc>
                <a:spcPts val="1350"/>
              </a:lnSpc>
            </a:pPr>
            <a:endParaRPr lang="en-US" sz="1200" i="0" dirty="0">
              <a:solidFill>
                <a:srgbClr val="000000"/>
              </a:solidFill>
              <a:effectLst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136CED2-7803-35F9-3BF5-14D0C61D00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0522" y="-145925"/>
            <a:ext cx="3419475" cy="10953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7B05D4B-71B6-35C9-AFCE-591D58EE21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250189"/>
            <a:ext cx="9795850" cy="326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035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756714B-2A22-C087-8658-0780DADED30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520406" y="849901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D6B0E575-7EDA-5962-1D30-BAABD6E45D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92A0BF-2CA3-4971-B6E6-82F7D14E5578}"/>
              </a:ext>
            </a:extLst>
          </p:cNvPr>
          <p:cNvSpPr txBox="1"/>
          <p:nvPr/>
        </p:nvSpPr>
        <p:spPr>
          <a:xfrm>
            <a:off x="10036725" y="1252279"/>
            <a:ext cx="2042146" cy="1523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{{S6_TOTAL}}</a:t>
            </a:r>
          </a:p>
          <a:p>
            <a:r>
              <a:rPr lang="tr-TR" sz="1200" dirty="0"/>
              <a:t>-</a:t>
            </a:r>
            <a:r>
              <a:rPr lang="tr-TR" sz="1200" b="1" dirty="0"/>
              <a:t> Total served chats: {{S6_SERVED}}</a:t>
            </a:r>
            <a:br>
              <a:rPr lang="tr-TR" sz="1200" b="1" dirty="0"/>
            </a:br>
            <a:r>
              <a:rPr lang="tr-TR" sz="1200" b="1" dirty="0"/>
              <a:t>- Total Missed chats: {{S6_MISSED}}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{{S6_SUCCESS}}%</a:t>
            </a:r>
          </a:p>
          <a:p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5D4BD-D0F0-ADAD-EC8D-9F484A27B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16D35B-41B6-65B6-1E20-099B860771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C4742E7-F61A-D695-9F1E-DD7CAF62F403}"/>
              </a:ext>
            </a:extLst>
          </p:cNvPr>
          <p:cNvSpPr txBox="1">
            <a:spLocks/>
          </p:cNvSpPr>
          <p:nvPr/>
        </p:nvSpPr>
        <p:spPr>
          <a:xfrm>
            <a:off x="4272057" y="4151316"/>
            <a:ext cx="1333537" cy="95876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br>
              <a:rPr lang="tr-TR" sz="1050" dirty="0">
                <a:solidFill>
                  <a:srgbClr val="1D1C1D"/>
                </a:solidFill>
              </a:rPr>
            </a:br>
            <a:br>
              <a:rPr lang="tr-TR" sz="1050" dirty="0">
                <a:solidFill>
                  <a:srgbClr val="1D1C1D"/>
                </a:solidFill>
              </a:rPr>
            </a:b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B04F4925-0D89-C9C8-46DD-0CA166543B3A}"/>
              </a:ext>
            </a:extLst>
          </p:cNvPr>
          <p:cNvSpPr txBox="1">
            <a:spLocks/>
          </p:cNvSpPr>
          <p:nvPr/>
        </p:nvSpPr>
        <p:spPr>
          <a:xfrm>
            <a:off x="136950" y="4151316"/>
            <a:ext cx="1685612" cy="1205819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tr-TR" sz="1050" dirty="0">
              <a:solidFill>
                <a:srgbClr val="1D1C1D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09AA6-B855-75B7-EAD4-91D17EB1DEF3}"/>
              </a:ext>
            </a:extLst>
          </p:cNvPr>
          <p:cNvSpPr txBox="1"/>
          <p:nvPr/>
        </p:nvSpPr>
        <p:spPr>
          <a:xfrm>
            <a:off x="10036725" y="2504601"/>
            <a:ext cx="22669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Betsat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{{S6_BOT_ONLY}}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>
                <a:solidFill>
                  <a:srgbClr val="1D1C1D"/>
                </a:solidFill>
              </a:rPr>
              <a:t>- From chatbot to agent : {{S6_BOT_TO_AGENT}}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b="1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chatbot: {{S6_BOT_PCT}}%</a:t>
            </a: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4E0748-7E32-EA84-2F79-42F148298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1198475"/>
            <a:ext cx="9569514" cy="3240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03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01658-A9E0-196F-7FCE-2E6BC89A6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BC63C67-927E-27B3-2EB8-FC806516E69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20004" y="729106"/>
            <a:ext cx="3151187" cy="350838"/>
          </a:xfrm>
        </p:spPr>
        <p:txBody>
          <a:bodyPr>
            <a:normAutofit/>
          </a:bodyPr>
          <a:lstStyle/>
          <a:p>
            <a:r>
              <a:rPr lang="tr-TR" sz="1600" b="1" dirty="0"/>
              <a:t>Missed Chat</a:t>
            </a:r>
            <a:endParaRPr lang="en-US" sz="1600" b="1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E4C64EAA-3DB1-861D-7D26-36F3EA94C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DB6DE-A5F0-C907-877B-B1389ECEFE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982ED6-8DB1-DAD6-AF39-330980E2CB3E}"/>
              </a:ext>
            </a:extLst>
          </p:cNvPr>
          <p:cNvSpPr txBox="1">
            <a:spLocks/>
          </p:cNvSpPr>
          <p:nvPr/>
        </p:nvSpPr>
        <p:spPr>
          <a:xfrm>
            <a:off x="85881" y="5395638"/>
            <a:ext cx="2044749" cy="160520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Calibri" panose="020F0502020204030204" pitchFamily="34" charset="0"/>
              <a:buNone/>
            </a:pP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CFCDD9-641F-B697-A99E-07DDC08A4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" y="0"/>
            <a:ext cx="2189074" cy="5251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C9B5BA-13BE-D7BD-56F8-E545D0E82342}"/>
              </a:ext>
            </a:extLst>
          </p:cNvPr>
          <p:cNvSpPr txBox="1"/>
          <p:nvPr/>
        </p:nvSpPr>
        <p:spPr>
          <a:xfrm>
            <a:off x="9931812" y="1254220"/>
            <a:ext cx="241209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Explanation</a:t>
            </a:r>
            <a:r>
              <a:rPr lang="en-US" sz="1200" dirty="0"/>
              <a:t>;</a:t>
            </a:r>
            <a:br>
              <a:rPr lang="tr-TR" sz="1200" b="1" dirty="0"/>
            </a:br>
            <a:r>
              <a:rPr lang="tr-TR" sz="1200" b="1" dirty="0"/>
              <a:t>- Total Chats: {{S7_TOTAL}}</a:t>
            </a:r>
          </a:p>
          <a:p>
            <a:r>
              <a:rPr lang="tr-TR" sz="1200" b="1" dirty="0"/>
              <a:t>- Total served chats: {{S7_SERVED}}</a:t>
            </a:r>
            <a:br>
              <a:rPr lang="tr-TR" sz="1200" b="1" dirty="0"/>
            </a:br>
            <a:r>
              <a:rPr lang="tr-TR" sz="1200" b="1" dirty="0"/>
              <a:t>- Total Missed chats: {{S7_MISSED}}</a:t>
            </a:r>
            <a:br>
              <a:rPr lang="tr-TR" sz="1200" b="1" dirty="0"/>
            </a:br>
            <a:r>
              <a:rPr lang="tr-TR" sz="1200" dirty="0"/>
              <a:t>- </a:t>
            </a:r>
            <a:r>
              <a:rPr lang="tr-TR" sz="1200" b="1" dirty="0"/>
              <a:t>Succes: {{S7_SUCCESS}}%</a:t>
            </a:r>
            <a:br>
              <a:rPr lang="tr-TR" sz="1100" dirty="0"/>
            </a:br>
            <a:endParaRPr lang="tr-TR" sz="1100" dirty="0">
              <a:solidFill>
                <a:srgbClr val="1D1C1D"/>
              </a:solidFill>
              <a:latin typeface="Slack-Lato"/>
            </a:endParaRPr>
          </a:p>
          <a:p>
            <a:endParaRPr lang="tr-TR" sz="1100" dirty="0">
              <a:solidFill>
                <a:srgbClr val="1D1C1D"/>
              </a:solidFill>
              <a:latin typeface="Slack-Lato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D9CFBA-0459-59B5-9D69-A4BED412C74A}"/>
              </a:ext>
            </a:extLst>
          </p:cNvPr>
          <p:cNvSpPr txBox="1"/>
          <p:nvPr/>
        </p:nvSpPr>
        <p:spPr>
          <a:xfrm>
            <a:off x="9931812" y="2486646"/>
            <a:ext cx="22601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200" b="1" dirty="0">
                <a:solidFill>
                  <a:srgbClr val="1D1C1D"/>
                </a:solidFill>
              </a:rPr>
              <a:t>Turkbet chatbot;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Chatbot only chats : {{S7_BOT_ONLY}}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From chatbot to agent : {{S7_BOT_TO_AGENT}}</a:t>
            </a:r>
            <a:br>
              <a:rPr lang="tr-TR" sz="1200" b="1" dirty="0">
                <a:solidFill>
                  <a:srgbClr val="1D1C1D"/>
                </a:solidFill>
              </a:rPr>
            </a:br>
            <a:r>
              <a:rPr lang="tr-TR" sz="1200" dirty="0"/>
              <a:t>- </a:t>
            </a:r>
            <a:r>
              <a:rPr lang="tr-TR" sz="1200" b="1" dirty="0">
                <a:solidFill>
                  <a:srgbClr val="1D1C1D"/>
                </a:solidFill>
              </a:rPr>
              <a:t>Percentage of chatbot : {{S7_BOT_PCT}}</a:t>
            </a:r>
            <a:r>
              <a:rPr lang="tr-TR" sz="1200" b="1" dirty="0"/>
              <a:t>%</a:t>
            </a: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EE21E69-ED23-42CA-2062-7B9FB4C7D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160903"/>
            <a:ext cx="9451818" cy="3196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492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1FB8-230F-18E3-D9F2-382EFDC6C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A1C0C77-B1FC-C5CB-D685-654121108C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285759-AE07-5777-EE50-3AB113623453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95A865-F1ED-E3B6-DEF2-B3CF50CCB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26" name="Title 6">
            <a:extLst>
              <a:ext uri="{FF2B5EF4-FFF2-40B4-BE49-F238E27FC236}">
                <a16:creationId xmlns:a16="http://schemas.microsoft.com/office/drawing/2014/main" id="{11276ADC-2A4C-6856-4AAA-9CBFB953FB4C}"/>
              </a:ext>
            </a:extLst>
          </p:cNvPr>
          <p:cNvSpPr txBox="1">
            <a:spLocks/>
          </p:cNvSpPr>
          <p:nvPr/>
        </p:nvSpPr>
        <p:spPr>
          <a:xfrm>
            <a:off x="5084278" y="561841"/>
            <a:ext cx="3151187" cy="35083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tr-TR" sz="2400" b="1" dirty="0">
                <a:latin typeface="+mn-lt"/>
              </a:rPr>
              <a:t>Top 10 </a:t>
            </a:r>
            <a:r>
              <a:rPr lang="tr-TR" sz="2400" b="1" dirty="0" err="1">
                <a:latin typeface="+mn-lt"/>
              </a:rPr>
              <a:t>Tags</a:t>
            </a:r>
            <a:endParaRPr lang="en-US" sz="2400" b="1" dirty="0">
              <a:latin typeface="+mn-lt"/>
            </a:endParaRP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6568327C-7D4C-7070-954D-A357C319131C}"/>
              </a:ext>
            </a:extLst>
          </p:cNvPr>
          <p:cNvSpPr txBox="1"/>
          <p:nvPr/>
        </p:nvSpPr>
        <p:spPr>
          <a:xfrm>
            <a:off x="4764887" y="4049185"/>
            <a:ext cx="210438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tr-TR" sz="13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- Top 10 Chat </a:t>
            </a:r>
            <a:r>
              <a:rPr lang="tr-TR" sz="1300" b="1" dirty="0" err="1">
                <a:solidFill>
                  <a:srgbClr val="1D1C1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cs typeface="Calibri" panose="020F0502020204030204" pitchFamily="34" charset="0"/>
              </a:rPr>
              <a:t>Tags</a:t>
            </a:r>
            <a:endParaRPr lang="tr-TR" sz="1300" b="1" dirty="0">
              <a:solidFill>
                <a:srgbClr val="1D1C1D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cs typeface="Calibri" panose="020F0502020204030204" pitchFamily="34" charset="0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E1ADD5C1-1F2E-0123-6645-215D3BC59B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1035424"/>
            <a:ext cx="2545976" cy="2545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87A158-BF29-A36E-2419-155C8383A6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1793" y="51573"/>
            <a:ext cx="2189074" cy="5251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E8179A3-17F5-94D2-8ED3-76F400865A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4769" y="-100248"/>
            <a:ext cx="2594501" cy="8311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9D0E916-BF3D-69D5-0425-4BABB09F1B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365" y="22798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30B4F12-CB3C-CD96-B5DD-3BB1163B5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04432"/>
              </p:ext>
            </p:extLst>
          </p:nvPr>
        </p:nvGraphicFramePr>
        <p:xfrm>
          <a:off x="4227670" y="4366783"/>
          <a:ext cx="2641600" cy="1905000"/>
        </p:xfrm>
        <a:graphic>
          <a:graphicData uri="http://schemas.openxmlformats.org/drawingml/2006/table">
            <a:tbl>
              <a:tblPr/>
              <a:tblGrid>
                <a:gridCol w="1778000">
                  <a:extLst>
                    <a:ext uri="{9D8B030D-6E8A-4147-A177-3AD203B41FA5}">
                      <a16:colId xmlns:a16="http://schemas.microsoft.com/office/drawing/2014/main" val="363034486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194230867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VIP TIER3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33856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4179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deposit_check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48069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goodwill_query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06567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1459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deposit_issue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8572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sport_cashback_query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3716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wd_missing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356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casino_cashback_query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936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free_spin_query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8114428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CE23959-9B23-0132-F743-A856D1FF7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70" y="1184636"/>
            <a:ext cx="10151491" cy="2721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618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38E6B-298A-0B7E-2709-AB62487388E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6930" y="688381"/>
            <a:ext cx="7120875" cy="3378891"/>
          </a:xfrm>
        </p:spPr>
        <p:txBody>
          <a:bodyPr>
            <a:normAutofit/>
          </a:bodyPr>
          <a:lstStyle/>
          <a:p>
            <a:pPr algn="l">
              <a:lnSpc>
                <a:spcPts val="1350"/>
              </a:lnSpc>
            </a:pP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</a:t>
            </a:r>
            <a:r>
              <a:rPr lang="en-US" sz="1300" dirty="0">
                <a:solidFill>
                  <a:schemeClr val="tx1"/>
                </a:solidFill>
              </a:rPr>
              <a:t>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0070C0"/>
                </a:solidFill>
              </a:rPr>
              <a:t>SUPERBETIN </a:t>
            </a:r>
            <a:r>
              <a:rPr lang="en-US" sz="1300" dirty="0"/>
              <a:t>: </a:t>
            </a:r>
            <a:r>
              <a:rPr lang="tr-TR" sz="1300" dirty="0"/>
              <a:t>{{S9_EMAIL_SB_COUNT}}</a:t>
            </a:r>
            <a:r>
              <a:rPr lang="tr-TR" sz="1300" dirty="0">
                <a:solidFill>
                  <a:schemeClr val="tx1"/>
                </a:solidFill>
              </a:rPr>
              <a:t> </a:t>
            </a:r>
            <a:r>
              <a:rPr lang="en-US" sz="1300" dirty="0">
                <a:solidFill>
                  <a:schemeClr val="tx1"/>
                </a:solidFill>
              </a:rPr>
              <a:t>/ </a:t>
            </a:r>
            <a:r>
              <a:rPr lang="tr-TR" sz="1300" dirty="0">
                <a:solidFill>
                  <a:schemeClr val="tx1"/>
                </a:solidFill>
              </a:rPr>
              <a:t>First resolution time median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r>
              <a:rPr lang="tr-TR" sz="1300" dirty="0">
                <a:solidFill>
                  <a:schemeClr val="tx1"/>
                </a:solidFill>
              </a:rPr>
              <a:t> {{S9_EMAIL_SB_TIME}}</a:t>
            </a:r>
            <a:br>
              <a:rPr lang="tr-TR" sz="1300" dirty="0">
                <a:solidFill>
                  <a:schemeClr val="tx1"/>
                </a:solidFill>
              </a:rPr>
            </a:br>
            <a:r>
              <a:rPr lang="tr-TR" sz="1300" dirty="0">
                <a:solidFill>
                  <a:schemeClr val="tx1"/>
                </a:solidFill>
              </a:rPr>
              <a:t>- Solved E-mails for </a:t>
            </a:r>
            <a:r>
              <a:rPr lang="tr-TR" sz="1300" b="1" dirty="0">
                <a:solidFill>
                  <a:srgbClr val="7030A0"/>
                </a:solidFill>
              </a:rPr>
              <a:t>BETSAT </a:t>
            </a:r>
            <a:r>
              <a:rPr lang="tr-TR" sz="1300" dirty="0">
                <a:solidFill>
                  <a:schemeClr val="tx1"/>
                </a:solidFill>
              </a:rPr>
              <a:t>: {{S9_EMAIL_BS_COUNT}} / First resolution time median: {{S9_EMAIL_BS_TIME}}</a:t>
            </a:r>
            <a:br>
              <a:rPr lang="tr-TR" sz="1300" dirty="0"/>
            </a:br>
            <a:r>
              <a:rPr lang="en-US" sz="1300" dirty="0">
                <a:solidFill>
                  <a:schemeClr val="tx1"/>
                </a:solidFill>
              </a:rPr>
              <a:t>- Solved E-mails</a:t>
            </a:r>
            <a:r>
              <a:rPr lang="tr-TR" sz="1300" dirty="0">
                <a:solidFill>
                  <a:schemeClr val="tx1"/>
                </a:solidFill>
              </a:rPr>
              <a:t> for </a:t>
            </a:r>
            <a:r>
              <a:rPr lang="tr-TR" sz="1300" b="1" dirty="0">
                <a:solidFill>
                  <a:srgbClr val="FF0000"/>
                </a:solidFill>
              </a:rPr>
              <a:t>TURKBET </a:t>
            </a:r>
            <a:r>
              <a:rPr lang="en-US" sz="1300" dirty="0"/>
              <a:t>:</a:t>
            </a:r>
            <a:r>
              <a:rPr lang="tr-TR" sz="1300" dirty="0"/>
              <a:t> {{S9_EMAIL_TB_COUNT}} </a:t>
            </a:r>
            <a:r>
              <a:rPr lang="en-US" sz="1300" dirty="0">
                <a:solidFill>
                  <a:schemeClr val="tx1"/>
                </a:solidFill>
              </a:rPr>
              <a:t>/ First resolution time median</a:t>
            </a:r>
            <a:r>
              <a:rPr lang="tr-TR" sz="1300" dirty="0">
                <a:solidFill>
                  <a:schemeClr val="tx1"/>
                </a:solidFill>
              </a:rPr>
              <a:t> : {{S9_EMAIL_TB_TIME}}</a:t>
            </a:r>
            <a:br>
              <a:rPr lang="tr-TR" sz="1300" dirty="0">
                <a:solidFill>
                  <a:schemeClr val="tx1"/>
                </a:solidFill>
              </a:rPr>
            </a:br>
            <a:br>
              <a:rPr lang="en-US" sz="1100" dirty="0"/>
            </a:br>
            <a:endParaRPr lang="tr-TR" sz="1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B572987-E77E-52DF-42E5-F2EA6C468D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-167951" y="-75578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733218E-3C27-C56C-4F2F-8563C8193825}"/>
              </a:ext>
            </a:extLst>
          </p:cNvPr>
          <p:cNvSpPr txBox="1">
            <a:spLocks/>
          </p:cNvSpPr>
          <p:nvPr/>
        </p:nvSpPr>
        <p:spPr>
          <a:xfrm>
            <a:off x="1212979" y="2341982"/>
            <a:ext cx="4898572" cy="132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DEE8A-F4E8-D09A-B86C-6F2C753C8959}"/>
              </a:ext>
            </a:extLst>
          </p:cNvPr>
          <p:cNvSpPr txBox="1"/>
          <p:nvPr/>
        </p:nvSpPr>
        <p:spPr>
          <a:xfrm>
            <a:off x="82916" y="4190323"/>
            <a:ext cx="292533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500" dirty="0"/>
              <a:t>Desired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Max. 45s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Max. 9m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 Min. 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 Max. 40s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</a:t>
            </a:r>
            <a:r>
              <a:rPr lang="tr-TR" sz="1500" dirty="0" err="1"/>
              <a:t>Missed</a:t>
            </a:r>
            <a:r>
              <a:rPr lang="tr-TR" sz="1500" dirty="0"/>
              <a:t>) : Max. 60s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Min. %95</a:t>
            </a:r>
          </a:p>
          <a:p>
            <a:endParaRPr lang="tr-TR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EAA4B-A4B1-D467-B669-DE531BD37AEF}"/>
              </a:ext>
            </a:extLst>
          </p:cNvPr>
          <p:cNvSpPr txBox="1"/>
          <p:nvPr/>
        </p:nvSpPr>
        <p:spPr>
          <a:xfrm>
            <a:off x="4062557" y="4072094"/>
            <a:ext cx="2925338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tr-TR" sz="1500" dirty="0"/>
              <a:t>Yesterday’s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Response Time : </a:t>
            </a:r>
            <a:r>
              <a:rPr lang="tr-TR" sz="1500" dirty="0">
                <a:solidFill>
                  <a:srgbClr val="00B050"/>
                </a:solidFill>
              </a:rPr>
              <a:t>{{S9_RESPONSE}}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Chat Duration : </a:t>
            </a:r>
            <a:r>
              <a:rPr lang="tr-TR" sz="1500" dirty="0">
                <a:solidFill>
                  <a:srgbClr val="00B050"/>
                </a:solidFill>
              </a:rPr>
              <a:t>{{S9_DURATION}}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Satisfaction :</a:t>
            </a:r>
            <a:r>
              <a:rPr lang="tr-TR" sz="1500" dirty="0">
                <a:solidFill>
                  <a:srgbClr val="00B050"/>
                </a:solidFill>
              </a:rPr>
              <a:t> {{S9_SATISFACTION}}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(Served) :</a:t>
            </a:r>
            <a:r>
              <a:rPr lang="tr-TR" sz="1500" dirty="0">
                <a:solidFill>
                  <a:srgbClr val="FF0000"/>
                </a:solidFill>
              </a:rPr>
              <a:t> </a:t>
            </a:r>
            <a:r>
              <a:rPr lang="tr-TR" sz="1400" dirty="0">
                <a:solidFill>
                  <a:srgbClr val="FF0000"/>
                </a:solidFill>
              </a:rPr>
              <a:t> {{S9_WAIT_SERVED}}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Wait Time (Missed) </a:t>
            </a:r>
            <a:r>
              <a:rPr lang="tr-TR" sz="1500" b="1" dirty="0"/>
              <a:t>: </a:t>
            </a:r>
            <a:r>
              <a:rPr lang="tr-TR" sz="1500" dirty="0">
                <a:solidFill>
                  <a:srgbClr val="FF0000"/>
                </a:solidFill>
              </a:rPr>
              <a:t>{{S9_WAIT_MISSED}}</a:t>
            </a:r>
            <a:r>
              <a:rPr lang="tr-TR" sz="1400" dirty="0">
                <a:solidFill>
                  <a:srgbClr val="FF0000"/>
                </a:solidFill>
              </a:rPr>
              <a:t/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Acceptance : </a:t>
            </a:r>
            <a:r>
              <a:rPr lang="tr-TR" sz="1500" dirty="0">
                <a:solidFill>
                  <a:srgbClr val="00B050"/>
                </a:solidFill>
              </a:rPr>
              <a:t>{{S9_ACCEPTANCE}}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500" dirty="0"/>
              <a:t>Rated Chats :</a:t>
            </a:r>
            <a:r>
              <a:rPr lang="tr-TR" sz="1500" dirty="0">
                <a:solidFill>
                  <a:srgbClr val="00B050"/>
                </a:solidFill>
              </a:rPr>
              <a:t> {{S9_RATED_PCT}}</a:t>
            </a:r>
          </a:p>
          <a:p>
            <a:pPr marL="0" indent="0">
              <a:buNone/>
            </a:pPr>
            <a:endParaRPr lang="tr-TR" sz="1500" dirty="0"/>
          </a:p>
          <a:p>
            <a:pPr marL="0" indent="0">
              <a:buNone/>
            </a:pPr>
            <a:endParaRPr lang="en-US" sz="1500" dirty="0"/>
          </a:p>
          <a:p>
            <a:endParaRPr lang="en-US" sz="1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5239CE-06B1-1285-BE60-F71B9B93E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3104" y="5705314"/>
            <a:ext cx="1228896" cy="11526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CC617C-B04F-88F4-7C49-52779A3DB397}"/>
              </a:ext>
            </a:extLst>
          </p:cNvPr>
          <p:cNvSpPr txBox="1"/>
          <p:nvPr/>
        </p:nvSpPr>
        <p:spPr>
          <a:xfrm>
            <a:off x="4370201" y="2488591"/>
            <a:ext cx="261769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7030A0"/>
                </a:solidFill>
              </a:rPr>
              <a:t>BS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{{S9_CALL_BS_ATTEMPTS}}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{{S9_CALL_BS_REACHED}}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{{S9_CALL_BS_NOTREACHED_PCT}}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endParaRPr lang="tr-TR" sz="13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98CF78-5C2D-B116-2143-08ABE5E84DDC}"/>
              </a:ext>
            </a:extLst>
          </p:cNvPr>
          <p:cNvSpPr txBox="1"/>
          <p:nvPr/>
        </p:nvSpPr>
        <p:spPr>
          <a:xfrm>
            <a:off x="233045" y="2505189"/>
            <a:ext cx="2617694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dirty="0">
                <a:latin typeface="+mn-lt"/>
              </a:rPr>
              <a:t>- 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400" b="1" dirty="0">
                <a:solidFill>
                  <a:srgbClr val="0070C0"/>
                </a:solidFill>
              </a:rPr>
              <a:t>SB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{{S9_CALL_SB_ATTEMPTS}}</a:t>
            </a: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({{S9_CALL_SB_REACHED_PCT}})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{{S9_CALL_SB_NOTREACHED}}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({{S9_CALL_SB_NOTREACHED_PCT}})</a:t>
            </a:r>
            <a:endParaRPr lang="tr-TR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CDA54-7A26-3D48-C421-57D7C21DA978}"/>
              </a:ext>
            </a:extLst>
          </p:cNvPr>
          <p:cNvSpPr txBox="1"/>
          <p:nvPr/>
        </p:nvSpPr>
        <p:spPr>
          <a:xfrm>
            <a:off x="8218602" y="2488591"/>
            <a:ext cx="256338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-</a:t>
            </a:r>
            <a:r>
              <a:rPr lang="en-US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Call Statistics</a:t>
            </a:r>
            <a:r>
              <a:rPr lang="tr-TR" sz="1300" b="1" dirty="0">
                <a:solidFill>
                  <a:srgbClr val="1D1C1D"/>
                </a:solidFill>
                <a:latin typeface="+mn-lt"/>
                <a:cs typeface="Calibri" panose="020F0502020204030204" pitchFamily="34" charset="0"/>
              </a:rPr>
              <a:t> </a:t>
            </a:r>
            <a:r>
              <a:rPr lang="tr-TR" sz="1300" b="1" dirty="0">
                <a:solidFill>
                  <a:srgbClr val="FF0000"/>
                </a:solidFill>
              </a:rPr>
              <a:t>TB</a:t>
            </a:r>
            <a:br>
              <a:rPr lang="en-US" sz="1300" dirty="0">
                <a:latin typeface="+mn-lt"/>
              </a:rPr>
            </a:br>
            <a:r>
              <a:rPr lang="tr-TR" sz="1300" dirty="0">
                <a:latin typeface="+mn-lt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Attempts: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{{S9_CALL_TB_ATTEMPTS}}</a:t>
            </a:r>
            <a:endParaRPr lang="tr-TR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Reached: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{{S9_CALL_TB_REACHED}} (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{{S9_CALL_TB_REACHED_PCT}}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)</a:t>
            </a:r>
            <a:b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</a:b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 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Total Not Reached</a:t>
            </a:r>
            <a:r>
              <a:rPr 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:</a:t>
            </a:r>
            <a:r>
              <a:rPr lang="tr-TR" sz="13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{{S9_CALL_TB_NOTREACHED}}</a:t>
            </a:r>
            <a:r>
              <a:rPr lang="tr-TR"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 ({{S9_CALL_TB_NOTREACHED_PCT}})</a:t>
            </a:r>
            <a:endParaRPr lang="tr-TR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5DFDD8-C13F-0EDD-2774-F75B0276F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1513" y="-119"/>
            <a:ext cx="1765861" cy="630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50ACC3-139B-F0A1-2BC7-E949ED355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531" y="100101"/>
            <a:ext cx="2189074" cy="5251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6A79C-FFAA-437D-5B6A-E7CE7E178B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484" y="-91310"/>
            <a:ext cx="3120752" cy="90793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FA42B7-3DFF-99AB-861F-7327B1443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/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404422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111367</TotalTime>
  <Words>767</Words>
  <Application>Microsoft Office PowerPoint</Application>
  <PresentationFormat>Widescreen</PresentationFormat>
  <Paragraphs>83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 Narrow</vt:lpstr>
      <vt:lpstr>Arial</vt:lpstr>
      <vt:lpstr>Calibri</vt:lpstr>
      <vt:lpstr>Calibri Light</vt:lpstr>
      <vt:lpstr>Menlo</vt:lpstr>
      <vt:lpstr>Slack-Lato</vt:lpstr>
      <vt:lpstr>Retrospect</vt:lpstr>
      <vt:lpstr>PowerPoint Presentation</vt:lpstr>
      <vt:lpstr>Missed Chats</vt:lpstr>
      <vt:lpstr>Response Time and Chat Duration  </vt:lpstr>
      <vt:lpstr> Chatbot Statistics </vt:lpstr>
      <vt:lpstr>Missed Chat</vt:lpstr>
      <vt:lpstr>Missed Chat</vt:lpstr>
      <vt:lpstr>Missed Chat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tbsabri</dc:creator>
  <cp:lastModifiedBy>Emre Dean</cp:lastModifiedBy>
  <cp:revision>4340</cp:revision>
  <cp:lastPrinted>2023-11-23T08:04:37Z</cp:lastPrinted>
  <dcterms:created xsi:type="dcterms:W3CDTF">2023-11-23T06:48:26Z</dcterms:created>
  <dcterms:modified xsi:type="dcterms:W3CDTF">2026-07-07T02:31:46Z</dcterms:modified>
</cp:coreProperties>
</file>