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9" r:id="rId3"/>
    <p:sldId id="258" r:id="rId4"/>
    <p:sldId id="268" r:id="rId5"/>
    <p:sldId id="261" r:id="rId6"/>
    <p:sldId id="256" r:id="rId7"/>
    <p:sldId id="263" r:id="rId8"/>
    <p:sldId id="265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794B59-B17A-4C71-A66A-F8BDC437409A}">
          <p14:sldIdLst>
            <p14:sldId id="260"/>
            <p14:sldId id="269"/>
            <p14:sldId id="258"/>
            <p14:sldId id="268"/>
            <p14:sldId id="261"/>
            <p14:sldId id="256"/>
            <p14:sldId id="263"/>
          </p14:sldIdLst>
        </p14:section>
        <p14:section name="Untitled Section" id="{3AF6E42E-D35F-42A9-B282-A72D0D982A79}">
          <p14:sldIdLst>
            <p14:sldId id="265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bsabri" initials="t" lastIdx="1" clrIdx="0">
    <p:extLst>
      <p:ext uri="{19B8F6BF-5375-455C-9EA6-DF929625EA0E}">
        <p15:presenceInfo xmlns:p15="http://schemas.microsoft.com/office/powerpoint/2012/main" userId="S-1-5-21-3398917992-3443651213-3871913328-3087" providerId="AD"/>
      </p:ext>
    </p:extLst>
  </p:cmAuthor>
  <p:cmAuthor id="2" name="Erhan" initials="E" lastIdx="1" clrIdx="1">
    <p:extLst>
      <p:ext uri="{19B8F6BF-5375-455C-9EA6-DF929625EA0E}">
        <p15:presenceInfo xmlns:p15="http://schemas.microsoft.com/office/powerpoint/2012/main" userId="S-1-5-21-3398917992-3443651213-3871913328-2132" providerId="AD"/>
      </p:ext>
    </p:extLst>
  </p:cmAuthor>
  <p:cmAuthor id="3" name="Beyza" initials="B" lastIdx="1" clrIdx="2">
    <p:extLst>
      <p:ext uri="{19B8F6BF-5375-455C-9EA6-DF929625EA0E}">
        <p15:presenceInfo xmlns:p15="http://schemas.microsoft.com/office/powerpoint/2012/main" userId="S-1-5-21-3398917992-3443651213-3871913328-1487" providerId="AD"/>
      </p:ext>
    </p:extLst>
  </p:cmAuthor>
  <p:cmAuthor id="4" name="BPO-9" initials="B" lastIdx="6" clrIdx="3">
    <p:extLst>
      <p:ext uri="{19B8F6BF-5375-455C-9EA6-DF929625EA0E}">
        <p15:presenceInfo xmlns:p15="http://schemas.microsoft.com/office/powerpoint/2012/main" userId="BPO-9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49F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4" autoAdjust="0"/>
    <p:restoredTop sz="94687" autoAdjust="0"/>
  </p:normalViewPr>
  <p:slideViewPr>
    <p:cSldViewPr snapToGrid="0">
      <p:cViewPr varScale="1">
        <p:scale>
          <a:sx n="106" d="100"/>
          <a:sy n="106" d="100"/>
        </p:scale>
        <p:origin x="720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AFB28B-3112-0564-E20D-407C9BBD2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28AA5-19B6-7882-EF20-76A0E9C227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71C40-3D60-4EEE-9476-FAC168200B9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30506-353C-38D6-13EE-223B4316F8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66FAD-40EE-E941-1387-0DECEFD999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9FBC1-E320-4547-B793-E0F31E0D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435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F43B6-ADC6-40F6-994E-F2B50DDA6FE1}" type="datetimeFigureOut">
              <a:rPr lang="tr-TR" smtClean="0"/>
              <a:t>7.07.2026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08953-659A-4F40-A6F7-8D18828E9D5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227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1A29-BD88-C46C-E6E3-80BE8D4A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15417-E261-E0EC-11A3-D1E3A494B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2D5AE-BA6F-F595-74F9-9B4906FEC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D80BA-69E7-E615-E016-ED3362C24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039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D19D-9876-191F-C4E5-369EE99A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4A74B-783A-6286-4935-C1E2D394F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A3B3E-3D35-8793-C2F7-3FA56774C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765A-6779-713F-100E-EC54BA360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521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090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F910-BD48-87B5-C5C3-76284EC7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F6DC6-7AFC-A94B-D7E7-F2F01C7C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67318-AB00-FB17-7299-0638C2EEA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039F4-2FF7-B874-1C6F-9ACC96A55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086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1A80-8DCF-7C47-BD4D-E1EC54AB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3576F-B033-2179-9B73-27152118F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232A8-07A5-4A61-04B2-8E72C41D5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B1ADF-F6F0-3796-8E16-83F489194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05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06735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53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6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4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9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8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6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865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568A-8F6A-20E8-EBF2-C73E8C479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59380"/>
            <a:ext cx="10058400" cy="30657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E5DC0-992F-F69E-CA6C-9A42817A1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tr-TR" b="1" dirty="0">
                <a:solidFill>
                  <a:schemeClr val="tx1"/>
                </a:solidFill>
                <a:latin typeface="Slack-Lato"/>
              </a:rPr>
              <a:t>CS TEAM_DAILY_CHAT_STATS_{{REPORT_DATE}}</a:t>
            </a:r>
            <a:r>
              <a:rPr lang="tr-TR" b="1" dirty="0" err="1">
                <a:solidFill>
                  <a:schemeClr val="tx1"/>
                </a:solidFill>
                <a:latin typeface="Slack-Lato"/>
              </a:rPr>
              <a:t/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en-US" b="1" i="0" dirty="0" err="1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tr-TR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tr-TR" b="1" dirty="0">
                <a:solidFill>
                  <a:schemeClr val="tx1"/>
                </a:solidFill>
                <a:latin typeface="Slack-Lato"/>
              </a:rPr>
              <a:t/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F3363-85A6-46F2-3D0D-ED4911DAE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97" y="1128873"/>
            <a:ext cx="10768206" cy="332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8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F54F-A9B5-48A9-C7D6-73BA552A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752BE1-57AD-F7EE-5BE6-53A5B70239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68070" y="1098977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Chats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1D639DB-A6C3-C59A-71C7-1090F11B0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2E73D-5517-D129-E75C-6C5AE9B56BD8}"/>
              </a:ext>
            </a:extLst>
          </p:cNvPr>
          <p:cNvSpPr txBox="1"/>
          <p:nvPr/>
        </p:nvSpPr>
        <p:spPr>
          <a:xfrm>
            <a:off x="9832063" y="1390434"/>
            <a:ext cx="22551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Explanation;</a:t>
            </a:r>
            <a:endParaRPr lang="tr-TR" sz="1200" b="1" dirty="0"/>
          </a:p>
          <a:p>
            <a:r>
              <a:rPr lang="tr-TR" sz="1200" b="1" dirty="0"/>
              <a:t>      - Total Chats: {{S2_TOTAL}}</a:t>
            </a:r>
            <a:endParaRPr lang="tr-TR" sz="1200" dirty="0"/>
          </a:p>
          <a:p>
            <a:r>
              <a:rPr lang="tr-TR" sz="1200" b="1" dirty="0"/>
              <a:t>      - Total Served Chats: {{S2_SERVED}}</a:t>
            </a:r>
            <a:endParaRPr lang="tr-TR" sz="1200" dirty="0"/>
          </a:p>
          <a:p>
            <a:pPr>
              <a:buNone/>
            </a:pPr>
            <a:r>
              <a:rPr lang="tr-TR" sz="1200" b="1" dirty="0"/>
              <a:t>      - Total Missed Chats:</a:t>
            </a:r>
            <a:r>
              <a:rPr lang="en-US" sz="1200" b="1" dirty="0"/>
              <a:t> </a:t>
            </a:r>
            <a:r>
              <a:rPr lang="tr-TR" sz="1200" b="1" dirty="0"/>
              <a:t>{{S2_MISSED}}</a:t>
            </a:r>
            <a:br>
              <a:rPr lang="tr-TR" sz="1200" b="1" dirty="0"/>
            </a:br>
            <a:r>
              <a:rPr lang="tr-TR" sz="1200" b="1" dirty="0"/>
              <a:t>      - </a:t>
            </a:r>
            <a:r>
              <a:rPr lang="en-US" sz="1200" b="1" dirty="0"/>
              <a:t>Success</a:t>
            </a:r>
            <a:r>
              <a:rPr lang="tr-TR" sz="1200" b="1" dirty="0"/>
              <a:t>: {{S2_SUCCESS}}</a:t>
            </a:r>
            <a:r>
              <a:rPr lang="tr-TR" sz="1200" dirty="0"/>
              <a:t>%</a:t>
            </a:r>
          </a:p>
          <a:p>
            <a:br>
              <a:rPr lang="tr-TR" sz="1200" b="1" dirty="0">
                <a:effectLst/>
              </a:rPr>
            </a:br>
            <a:r>
              <a:rPr lang="en-US" sz="1200" dirty="0">
                <a:effectLst/>
              </a:rPr>
              <a:t>{{S2_NOTE}}</a:t>
            </a:r>
            <a:br>
              <a:rPr lang="tr-TR" sz="1200" dirty="0">
                <a:effectLst/>
              </a:rPr>
            </a:br>
            <a:br>
              <a:rPr lang="tr-TR" sz="1200" dirty="0">
                <a:effectLst/>
              </a:rPr>
            </a:br>
            <a:r>
              <a:rPr lang="en-US" sz="1200" dirty="0">
                <a:effectLst/>
              </a:rPr>
              <a:t/>
            </a:r>
            <a:r>
              <a:rPr lang="tr-TR" sz="1200" dirty="0">
                <a:effectLst/>
              </a:rPr>
              <a:t/>
            </a:r>
            <a:r>
              <a:rPr lang="en-US" sz="1200" dirty="0">
                <a:effectLst/>
              </a:rPr>
              <a:t/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endParaRPr lang="tr-TR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185DB6-46F1-8373-B85F-61847FAE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90373"/>
            <a:ext cx="1228896" cy="10667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F6A355-BE80-CD2C-C5DE-FB4C9AF5F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50" y="253133"/>
            <a:ext cx="2255145" cy="5391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646C32-3399-D4FB-6E74-93F26CF3C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66" y="171000"/>
            <a:ext cx="2420020" cy="6231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A96FF3-C615-1B0D-E90C-42C84A4FD6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34" y="51305"/>
            <a:ext cx="2703776" cy="866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037BAF-9AE6-101B-001B-27B29E4F9BC3}"/>
              </a:ext>
            </a:extLst>
          </p:cNvPr>
          <p:cNvSpPr txBox="1"/>
          <p:nvPr/>
        </p:nvSpPr>
        <p:spPr>
          <a:xfrm>
            <a:off x="0" y="4960642"/>
            <a:ext cx="181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{{S2_H1_HSTART}}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:00 – 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{{S2_H1_HEND}}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:00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Total chats: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 {{S2_H1_TOTAL}}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Served chats: 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{{S2_H1_SERVED}}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{{S2_H1_MISSED}}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Success: 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{{S2_H1_SUCCESS}}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Available Agents: </a:t>
            </a:r>
            <a:r>
              <a:rPr lang="tr-TR" sz="1000" dirty="0">
                <a:latin typeface="Arial" panose="020B0604020202020204" pitchFamily="34" charset="0"/>
              </a:rPr>
              <a:t>{{S2_H1_AGENTS}}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Avg. Chat per agent/h: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sz="1000" dirty="0">
                <a:latin typeface="Arial" panose="020B0604020202020204" pitchFamily="34" charset="0"/>
              </a:rPr>
              <a:t>{{S2_H1_CPA}}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/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AE8E3-1406-815F-32EC-F7728372C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3" y="1388537"/>
            <a:ext cx="9723422" cy="32608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0861F8-1430-E4E2-7AF4-49C0C3125847}"/>
              </a:ext>
            </a:extLst>
          </p:cNvPr>
          <p:cNvSpPr txBox="1"/>
          <p:nvPr/>
        </p:nvSpPr>
        <p:spPr>
          <a:xfrm>
            <a:off x="1910281" y="4960641"/>
            <a:ext cx="1855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{{S2_H2_HSTART}}</a:t>
            </a:r>
            <a:r>
              <a:rPr lang="en-US" sz="1000" dirty="0">
                <a:latin typeface="Arial" panose="020B0604020202020204" pitchFamily="34" charset="0"/>
              </a:rPr>
              <a:t>:00 – </a:t>
            </a:r>
            <a:r>
              <a:rPr lang="tr-TR" sz="1000" dirty="0">
                <a:latin typeface="Arial" panose="020B0604020202020204" pitchFamily="34" charset="0"/>
              </a:rPr>
              <a:t>{{S2_H2_HEND}}</a:t>
            </a:r>
            <a:r>
              <a:rPr lang="en-US" sz="1000" dirty="0">
                <a:latin typeface="Arial" panose="020B0604020202020204" pitchFamily="34" charset="0"/>
              </a:rPr>
              <a:t>:00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Total chats:</a:t>
            </a:r>
            <a:r>
              <a:rPr lang="tr-TR" sz="1000" dirty="0">
                <a:latin typeface="Arial" panose="020B0604020202020204" pitchFamily="34" charset="0"/>
              </a:rPr>
              <a:t> {{S2_H2_TOTAL}}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Served chats: </a:t>
            </a:r>
            <a:r>
              <a:rPr lang="tr-TR" sz="1000" dirty="0">
                <a:latin typeface="Arial" panose="020B0604020202020204" pitchFamily="34" charset="0"/>
              </a:rPr>
              <a:t>{{S2_H2_SERVED}}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{{S2_H2_MISSED}}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Success: </a:t>
            </a:r>
            <a:r>
              <a:rPr lang="tr-TR" sz="1000" dirty="0">
                <a:latin typeface="Arial" panose="020B0604020202020204" pitchFamily="34" charset="0"/>
              </a:rPr>
              <a:t>{{S2_H2_SUCCESS}}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Available Agents:</a:t>
            </a:r>
            <a:r>
              <a:rPr lang="tr-TR" sz="1000" dirty="0">
                <a:latin typeface="Arial" panose="020B0604020202020204" pitchFamily="34" charset="0"/>
              </a:rPr>
              <a:t>{{S2_H2_AGENTS}}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Avg. Chat per agent/h:</a:t>
            </a:r>
            <a:r>
              <a:rPr lang="tr-TR" sz="1000" dirty="0">
                <a:latin typeface="Arial" panose="020B0604020202020204" pitchFamily="34" charset="0"/>
              </a:rPr>
              <a:t> {{S2_H2_CPA}}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01B22-D31F-45D9-7A32-9167BD10B3F1}"/>
              </a:ext>
            </a:extLst>
          </p:cNvPr>
          <p:cNvSpPr txBox="1"/>
          <p:nvPr/>
        </p:nvSpPr>
        <p:spPr>
          <a:xfrm>
            <a:off x="3766241" y="4960641"/>
            <a:ext cx="18279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{{S2_H3_HSTART}}</a:t>
            </a:r>
            <a:r>
              <a:rPr lang="en-US" sz="1000" dirty="0">
                <a:latin typeface="Arial" panose="020B0604020202020204" pitchFamily="34" charset="0"/>
              </a:rPr>
              <a:t>:00 – </a:t>
            </a:r>
            <a:r>
              <a:rPr lang="tr-TR" sz="1000" dirty="0">
                <a:latin typeface="Arial" panose="020B0604020202020204" pitchFamily="34" charset="0"/>
              </a:rPr>
              <a:t>{{S2_H3_HEND}}</a:t>
            </a:r>
            <a:r>
              <a:rPr lang="en-US" sz="1000" dirty="0">
                <a:latin typeface="Arial" panose="020B0604020202020204" pitchFamily="34" charset="0"/>
              </a:rPr>
              <a:t>:00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Total chats:</a:t>
            </a:r>
            <a:r>
              <a:rPr lang="tr-TR" sz="1000" dirty="0">
                <a:latin typeface="Arial" panose="020B0604020202020204" pitchFamily="34" charset="0"/>
              </a:rPr>
              <a:t> {{S2_H3_TOTAL}}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Served chats: </a:t>
            </a:r>
            <a:r>
              <a:rPr lang="tr-TR" sz="1000" dirty="0">
                <a:latin typeface="Arial" panose="020B0604020202020204" pitchFamily="34" charset="0"/>
              </a:rPr>
              <a:t>{{S2_H3_SERVED}}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{{S2_H3_MISSED}}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Success: </a:t>
            </a:r>
            <a:r>
              <a:rPr lang="tr-TR" sz="1000" dirty="0">
                <a:latin typeface="Arial" panose="020B0604020202020204" pitchFamily="34" charset="0"/>
              </a:rPr>
              <a:t>{{S2_H3_SUCCESS}}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Available Agents:</a:t>
            </a:r>
            <a:r>
              <a:rPr lang="tr-TR" sz="1000" dirty="0">
                <a:latin typeface="Arial" panose="020B0604020202020204" pitchFamily="34" charset="0"/>
              </a:rPr>
              <a:t>{{S2_H3_AGENTS}}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Avg. Chat per agent/h:</a:t>
            </a:r>
            <a:r>
              <a:rPr lang="tr-TR" sz="1000" dirty="0">
                <a:latin typeface="Arial" panose="020B0604020202020204" pitchFamily="34" charset="0"/>
              </a:rPr>
              <a:t> {{S2_H3_CPA}}</a:t>
            </a:r>
            <a:endParaRPr lang="en-US" sz="1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3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5EB3-2DC0-F011-D90C-10093A22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53" y="1128230"/>
            <a:ext cx="4619289" cy="660922"/>
          </a:xfrm>
        </p:spPr>
        <p:txBody>
          <a:bodyPr>
            <a:noAutofit/>
          </a:bodyPr>
          <a:lstStyle/>
          <a:p>
            <a:r>
              <a:rPr lang="tr-TR" sz="2000" b="1" dirty="0"/>
              <a:t>Response Time and Chat Duration </a:t>
            </a:r>
            <a:br>
              <a:rPr lang="tr-TR" sz="2000" dirty="0"/>
            </a:br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56443A-965A-A022-4F9D-58C8A341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63197-E227-5EC8-027F-78C1EF5F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DF7B45-0C4B-C668-EB1A-D18CB9D2B0AD}"/>
              </a:ext>
            </a:extLst>
          </p:cNvPr>
          <p:cNvSpPr txBox="1"/>
          <p:nvPr/>
        </p:nvSpPr>
        <p:spPr>
          <a:xfrm>
            <a:off x="9867922" y="1789152"/>
            <a:ext cx="2405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Explanation</a:t>
            </a:r>
            <a:br>
              <a:rPr lang="tr-TR" sz="1400" b="1" dirty="0"/>
            </a:br>
            <a:endParaRPr lang="en-US" sz="1400" b="1" dirty="0"/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tr-TR" sz="1400" b="1" dirty="0" err="1"/>
              <a:t>Avg</a:t>
            </a:r>
            <a:r>
              <a:rPr lang="tr-TR" sz="1400" b="1" dirty="0"/>
              <a:t>. response time: {{S3_RESPONSE}}</a:t>
            </a:r>
            <a:r>
              <a:rPr lang="en-US" sz="1400" b="1" dirty="0"/>
              <a:t>s</a:t>
            </a:r>
            <a:br>
              <a:rPr lang="tr-TR" sz="1400" b="1" dirty="0"/>
            </a:br>
            <a:r>
              <a:rPr lang="tr-TR" sz="1400" b="1" dirty="0"/>
              <a:t>Avg. First response time: {{S3_FIRST_RESPONSE}}</a:t>
            </a:r>
            <a:br>
              <a:rPr lang="tr-TR" sz="1400" b="1" dirty="0"/>
            </a:br>
            <a:r>
              <a:rPr lang="tr-TR" sz="1400" b="1" dirty="0"/>
              <a:t>Avg. Wait Time: {{S3_WAIT}}</a:t>
            </a:r>
            <a:br>
              <a:rPr lang="tr-TR" sz="1400" b="1" dirty="0"/>
            </a:br>
            <a:r>
              <a:rPr lang="tr-TR" sz="1400" b="1" dirty="0"/>
              <a:t>Avg. Chat Duration: {{S3_DURATION}}</a:t>
            </a:r>
            <a:endParaRPr lang="tr-TR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F07594-055B-5DFA-3B81-FA0E3D4AE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407" y="313374"/>
            <a:ext cx="2255145" cy="5391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0801AE-D06B-F625-52CC-2C69FF3CE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608" y="264161"/>
            <a:ext cx="2420020" cy="62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CBE7C4-4263-72EC-4D1B-377A0A857E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396"/>
            <a:ext cx="3684494" cy="1180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CF0EED-9A77-0632-AEBE-F7DEA1FFF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" y="1728670"/>
            <a:ext cx="9750582" cy="35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7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C240-487A-CE5C-F6F5-893C0BAA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555" y="1531954"/>
            <a:ext cx="3645084" cy="407406"/>
          </a:xfrm>
        </p:spPr>
        <p:txBody>
          <a:bodyPr>
            <a:noAutofit/>
          </a:bodyPr>
          <a:lstStyle/>
          <a:p>
            <a:pPr algn="ctr"/>
            <a:r>
              <a:rPr lang="tr-TR" sz="2800" b="1" dirty="0">
                <a:latin typeface="+mn-lt"/>
              </a:rPr>
              <a:t> Chatbot Statistics</a:t>
            </a:r>
            <a:br>
              <a:rPr lang="en-US" sz="2800" dirty="0">
                <a:latin typeface="+mn-lt"/>
              </a:rPr>
            </a:br>
            <a:endParaRPr lang="en-US" sz="2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A273B-F287-1ED8-3DD3-BB5F494A82D0}"/>
              </a:ext>
            </a:extLst>
          </p:cNvPr>
          <p:cNvSpPr txBox="1"/>
          <p:nvPr/>
        </p:nvSpPr>
        <p:spPr>
          <a:xfrm>
            <a:off x="9996105" y="1939360"/>
            <a:ext cx="23437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  All chatbots;</a:t>
            </a:r>
          </a:p>
          <a:p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{{S4_BOT_ONLY}}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{{S4_BOT_TO_AGENT}}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{{S4_BOT_PCT}}</a:t>
            </a:r>
            <a:r>
              <a:rPr lang="tr-TR" sz="1200" b="1" dirty="0"/>
              <a:t>%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Action usage : {{S4_ACTION_USAGE}}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Action per chat : {{S4_ACTION_PER_CHAT}}</a:t>
            </a:r>
            <a:endParaRPr lang="tr-TR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383E6-CF7D-4BDE-7F41-B97BAB559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287" y="132784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CB8DDD-CE6C-82A2-DCB0-7D22579D7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422" y="112195"/>
            <a:ext cx="2557502" cy="6134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AFA020-0DC7-D5CD-76AB-0B7422FBC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87" y="-131447"/>
            <a:ext cx="3436342" cy="1100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56836-18F5-9541-4D55-41083B35C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C687A4-7545-7AD5-0755-41A4E89EC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35657"/>
            <a:ext cx="9759636" cy="33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5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AA08-F84D-0433-F9BF-D81841B5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B07F04-658C-54BE-82B4-5945435F7B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0406" y="737302"/>
            <a:ext cx="1943767" cy="448697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0620390-58AF-804F-2682-68ADF43D9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552F7-6D39-2AAC-EE22-7D077A7DD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B6E515-ED50-FD08-F9CD-95FFF479439B}"/>
              </a:ext>
            </a:extLst>
          </p:cNvPr>
          <p:cNvSpPr txBox="1"/>
          <p:nvPr/>
        </p:nvSpPr>
        <p:spPr>
          <a:xfrm>
            <a:off x="9349998" y="926808"/>
            <a:ext cx="295835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tr-TR" sz="1100" dirty="0"/>
            </a:br>
            <a:endParaRPr lang="tr-TR" sz="1100" dirty="0"/>
          </a:p>
          <a:p>
            <a:br>
              <a:rPr lang="tr-TR" sz="1100" dirty="0"/>
            </a:br>
            <a:br>
              <a:rPr lang="tr-TR" sz="1100" dirty="0"/>
            </a:br>
            <a:endParaRPr lang="tr-TR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AB0B3-3EE2-0EFB-818C-FF48AEBEFB74}"/>
              </a:ext>
            </a:extLst>
          </p:cNvPr>
          <p:cNvSpPr txBox="1"/>
          <p:nvPr/>
        </p:nvSpPr>
        <p:spPr>
          <a:xfrm>
            <a:off x="10090908" y="1396167"/>
            <a:ext cx="265198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200" dirty="0"/>
              <a:t>Explanation;</a:t>
            </a:r>
            <a:br>
              <a:rPr lang="tr-TR" sz="1200" b="1" dirty="0"/>
            </a:br>
            <a:r>
              <a:rPr lang="tr-TR" sz="1200" b="1" dirty="0"/>
              <a:t>- Total Chats: {{S5_TOTAL}}</a:t>
            </a:r>
            <a:br>
              <a:rPr lang="tr-TR" sz="1200" b="1" dirty="0"/>
            </a:br>
            <a:r>
              <a:rPr lang="tr-TR" sz="1200" b="1" dirty="0"/>
              <a:t>- Total served chats: {{S5_SERVED}}</a:t>
            </a:r>
            <a:br>
              <a:rPr lang="tr-TR" sz="1200" b="1" dirty="0"/>
            </a:br>
            <a:r>
              <a:rPr lang="tr-TR" sz="1200" b="1" dirty="0"/>
              <a:t>- Total Missed chats: {{S5_MISSED}}</a:t>
            </a:r>
            <a:br>
              <a:rPr lang="tr-TR" sz="1200" b="1" dirty="0"/>
            </a:br>
            <a:r>
              <a:rPr lang="tr-TR" sz="1200" b="1" dirty="0"/>
              <a:t>- Succes: </a:t>
            </a:r>
            <a:r>
              <a:rPr lang="tr-TR" sz="1200" b="1" dirty="0">
                <a:solidFill>
                  <a:srgbClr val="000000"/>
                </a:solidFill>
              </a:rPr>
              <a:t>{{S5_SUCCESS}}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%</a:t>
            </a:r>
            <a:br>
              <a:rPr lang="tr-TR" sz="1200" b="1" dirty="0"/>
            </a:br>
            <a:endParaRPr lang="tr-TR" sz="1200" b="1" dirty="0">
              <a:solidFill>
                <a:srgbClr val="1D1C1D"/>
              </a:solidFill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BE0B5F-A27F-E432-8E3C-D29BB6735212}"/>
              </a:ext>
            </a:extLst>
          </p:cNvPr>
          <p:cNvSpPr txBox="1">
            <a:spLocks/>
          </p:cNvSpPr>
          <p:nvPr/>
        </p:nvSpPr>
        <p:spPr>
          <a:xfrm>
            <a:off x="202264" y="4010975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D9B9-001D-2235-8733-6B596C9C85F9}"/>
              </a:ext>
            </a:extLst>
          </p:cNvPr>
          <p:cNvSpPr txBox="1">
            <a:spLocks/>
          </p:cNvSpPr>
          <p:nvPr/>
        </p:nvSpPr>
        <p:spPr>
          <a:xfrm>
            <a:off x="136950" y="4103095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1EFB16-C4D3-0174-F968-77F5E1A418C1}"/>
              </a:ext>
            </a:extLst>
          </p:cNvPr>
          <p:cNvSpPr txBox="1">
            <a:spLocks/>
          </p:cNvSpPr>
          <p:nvPr/>
        </p:nvSpPr>
        <p:spPr>
          <a:xfrm>
            <a:off x="264635" y="5034483"/>
            <a:ext cx="2096427" cy="110398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200" dirty="0">
              <a:solidFill>
                <a:srgbClr val="1D1C1D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DA8C78-6466-BE52-87D1-6813321BA135}"/>
              </a:ext>
            </a:extLst>
          </p:cNvPr>
          <p:cNvSpPr txBox="1">
            <a:spLocks/>
          </p:cNvSpPr>
          <p:nvPr/>
        </p:nvSpPr>
        <p:spPr>
          <a:xfrm>
            <a:off x="157601" y="4110200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850F08-944B-D678-A253-41461593341C}"/>
              </a:ext>
            </a:extLst>
          </p:cNvPr>
          <p:cNvSpPr txBox="1">
            <a:spLocks/>
          </p:cNvSpPr>
          <p:nvPr/>
        </p:nvSpPr>
        <p:spPr>
          <a:xfrm>
            <a:off x="1815244" y="3917763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6EF4B42-34EE-4DD1-BB0C-2346E88608EC}"/>
              </a:ext>
            </a:extLst>
          </p:cNvPr>
          <p:cNvSpPr txBox="1">
            <a:spLocks/>
          </p:cNvSpPr>
          <p:nvPr/>
        </p:nvSpPr>
        <p:spPr>
          <a:xfrm>
            <a:off x="3677600" y="3817549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9B59DB4-5584-A1C5-DC77-03EB6629D629}"/>
              </a:ext>
            </a:extLst>
          </p:cNvPr>
          <p:cNvSpPr txBox="1">
            <a:spLocks/>
          </p:cNvSpPr>
          <p:nvPr/>
        </p:nvSpPr>
        <p:spPr>
          <a:xfrm>
            <a:off x="219973" y="5034483"/>
            <a:ext cx="1550608" cy="12582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Calibri" panose="020F0502020204030204" pitchFamily="34" charset="0"/>
              <a:buNone/>
            </a:pPr>
            <a:endParaRPr lang="tr-TR" sz="1000" dirty="0">
              <a:solidFill>
                <a:srgbClr val="1D1C1D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F971A-15AF-1F7C-DAF7-E7489D207F69}"/>
              </a:ext>
            </a:extLst>
          </p:cNvPr>
          <p:cNvSpPr txBox="1"/>
          <p:nvPr/>
        </p:nvSpPr>
        <p:spPr>
          <a:xfrm>
            <a:off x="9986625" y="2540208"/>
            <a:ext cx="2321725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lang="tr-TR" sz="1200" dirty="0">
                <a:solidFill>
                  <a:srgbClr val="1D1C1D"/>
                </a:solidFill>
              </a:rPr>
              <a:t>Superbetin chatbot;</a:t>
            </a:r>
            <a:br>
              <a:rPr lang="tr-TR" sz="1200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{{S5_BOT_ONLY}}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</a:t>
            </a:r>
            <a:r>
              <a:rPr lang="tr-TR" sz="1200" b="1" dirty="0">
                <a:solidFill>
                  <a:srgbClr val="000000"/>
                </a:solidFill>
              </a:rPr>
              <a:t>{{S5_BOT_TO_AGENT}}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{{S5_BOT_PCT}}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%</a:t>
            </a:r>
            <a:endParaRPr lang="tr-TR" sz="1200" b="1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ts val="1350"/>
              </a:lnSpc>
            </a:pPr>
            <a:endParaRPr lang="tr-TR" sz="1200" b="1" dirty="0">
              <a:solidFill>
                <a:srgbClr val="000000"/>
              </a:solidFill>
            </a:endParaRPr>
          </a:p>
          <a:p>
            <a:pPr algn="l">
              <a:lnSpc>
                <a:spcPts val="1350"/>
              </a:lnSpc>
            </a:pPr>
            <a:endParaRPr lang="tr-TR" sz="1200" b="1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ts val="1350"/>
              </a:lnSpc>
            </a:pPr>
            <a:endParaRPr lang="en-US" sz="120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36CED2-7803-35F9-3BF5-14D0C61D0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522" y="-145925"/>
            <a:ext cx="3419475" cy="1095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05D4B-71B6-35C9-AFCE-591D58EE2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50189"/>
            <a:ext cx="9795850" cy="326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3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56714B-2A22-C087-8658-0780DADED3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0406" y="849901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6B0E575-7EDA-5962-1D30-BAABD6E4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2A0BF-2CA3-4971-B6E6-82F7D14E5578}"/>
              </a:ext>
            </a:extLst>
          </p:cNvPr>
          <p:cNvSpPr txBox="1"/>
          <p:nvPr/>
        </p:nvSpPr>
        <p:spPr>
          <a:xfrm>
            <a:off x="10036725" y="1252279"/>
            <a:ext cx="204214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Explanation</a:t>
            </a:r>
            <a:r>
              <a:rPr lang="en-US" sz="1200" dirty="0"/>
              <a:t>;</a:t>
            </a:r>
            <a:br>
              <a:rPr lang="tr-TR" sz="1200" b="1" dirty="0"/>
            </a:br>
            <a:r>
              <a:rPr lang="tr-TR" sz="1200" b="1" dirty="0"/>
              <a:t>- Total Chats: {{S6_TOTAL}}</a:t>
            </a:r>
          </a:p>
          <a:p>
            <a:r>
              <a:rPr lang="tr-TR" sz="1200" dirty="0"/>
              <a:t>-</a:t>
            </a:r>
            <a:r>
              <a:rPr lang="tr-TR" sz="1200" b="1" dirty="0"/>
              <a:t> Total served chats: {{S6_SERVED}}</a:t>
            </a:r>
            <a:br>
              <a:rPr lang="tr-TR" sz="1200" b="1" dirty="0"/>
            </a:br>
            <a:r>
              <a:rPr lang="tr-TR" sz="1200" b="1" dirty="0"/>
              <a:t>- Total Missed chats: {{S6_MISSED}}</a:t>
            </a:r>
            <a:br>
              <a:rPr lang="tr-TR" sz="1200" b="1" dirty="0"/>
            </a:br>
            <a:r>
              <a:rPr lang="tr-TR" sz="1200" dirty="0"/>
              <a:t>- </a:t>
            </a:r>
            <a:r>
              <a:rPr lang="tr-TR" sz="1200" b="1" dirty="0"/>
              <a:t>Succes: {{S6_SUCCESS}}%</a:t>
            </a:r>
          </a:p>
          <a:p>
            <a:br>
              <a:rPr lang="tr-TR" sz="1100" dirty="0"/>
            </a:br>
            <a:endParaRPr lang="tr-TR" sz="1100" dirty="0">
              <a:solidFill>
                <a:srgbClr val="1D1C1D"/>
              </a:solidFill>
              <a:latin typeface="Slack-Lato"/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5D4BD-D0F0-ADAD-EC8D-9F484A27B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16D35B-41B6-65B6-1E20-099B86077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4742E7-F61A-D695-9F1E-DD7CAF62F403}"/>
              </a:ext>
            </a:extLst>
          </p:cNvPr>
          <p:cNvSpPr txBox="1">
            <a:spLocks/>
          </p:cNvSpPr>
          <p:nvPr/>
        </p:nvSpPr>
        <p:spPr>
          <a:xfrm>
            <a:off x="4272057" y="4151316"/>
            <a:ext cx="1333537" cy="958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tr-TR" sz="1050" dirty="0">
                <a:solidFill>
                  <a:srgbClr val="1D1C1D"/>
                </a:solidFill>
              </a:rPr>
            </a:br>
            <a:br>
              <a:rPr lang="tr-TR" sz="1050" dirty="0">
                <a:solidFill>
                  <a:srgbClr val="1D1C1D"/>
                </a:solidFill>
              </a:rPr>
            </a:b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4F4925-0D89-C9C8-46DD-0CA166543B3A}"/>
              </a:ext>
            </a:extLst>
          </p:cNvPr>
          <p:cNvSpPr txBox="1">
            <a:spLocks/>
          </p:cNvSpPr>
          <p:nvPr/>
        </p:nvSpPr>
        <p:spPr>
          <a:xfrm>
            <a:off x="136950" y="4151316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09AA6-B855-75B7-EAD4-91D17EB1DEF3}"/>
              </a:ext>
            </a:extLst>
          </p:cNvPr>
          <p:cNvSpPr txBox="1"/>
          <p:nvPr/>
        </p:nvSpPr>
        <p:spPr>
          <a:xfrm>
            <a:off x="10036725" y="2504601"/>
            <a:ext cx="2266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Betsat chatbot;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{{S6_BOT_ONLY}}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>
                <a:solidFill>
                  <a:srgbClr val="1D1C1D"/>
                </a:solidFill>
              </a:rPr>
              <a:t>- From chatbot to agent : {{S6_BOT_TO_AGENT}}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chatbot: {{S6_BOT_PCT}}%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E0748-7E32-EA84-2F79-42F148298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198475"/>
            <a:ext cx="9569514" cy="324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0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1658-A9E0-196F-7FCE-2E6BC89A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C63C67-927E-27B3-2EB8-FC806516E6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20004" y="729106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4C64EAA-3DB1-861D-7D26-36F3EA94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DB6DE-A5F0-C907-877B-B1389ECE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982ED6-8DB1-DAD6-AF39-330980E2CB3E}"/>
              </a:ext>
            </a:extLst>
          </p:cNvPr>
          <p:cNvSpPr txBox="1">
            <a:spLocks/>
          </p:cNvSpPr>
          <p:nvPr/>
        </p:nvSpPr>
        <p:spPr>
          <a:xfrm>
            <a:off x="85881" y="5395638"/>
            <a:ext cx="2044749" cy="16052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FCDD9-641F-B697-A99E-07DDC08A4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" y="0"/>
            <a:ext cx="2189074" cy="525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C9B5BA-13BE-D7BD-56F8-E545D0E82342}"/>
              </a:ext>
            </a:extLst>
          </p:cNvPr>
          <p:cNvSpPr txBox="1"/>
          <p:nvPr/>
        </p:nvSpPr>
        <p:spPr>
          <a:xfrm>
            <a:off x="9931812" y="1254220"/>
            <a:ext cx="241209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Explanation</a:t>
            </a:r>
            <a:r>
              <a:rPr lang="en-US" sz="1200" dirty="0"/>
              <a:t>;</a:t>
            </a:r>
            <a:br>
              <a:rPr lang="tr-TR" sz="1200" b="1" dirty="0"/>
            </a:br>
            <a:r>
              <a:rPr lang="tr-TR" sz="1200" b="1" dirty="0"/>
              <a:t>- Total Chats: {{S7_TOTAL}}</a:t>
            </a:r>
          </a:p>
          <a:p>
            <a:r>
              <a:rPr lang="tr-TR" sz="1200" b="1" dirty="0"/>
              <a:t>- Total served chats: {{S7_SERVED}}</a:t>
            </a:r>
            <a:br>
              <a:rPr lang="tr-TR" sz="1200" b="1" dirty="0"/>
            </a:br>
            <a:r>
              <a:rPr lang="tr-TR" sz="1200" b="1" dirty="0"/>
              <a:t>- Total Missed chats: {{S7_MISSED}}</a:t>
            </a:r>
            <a:br>
              <a:rPr lang="tr-TR" sz="1200" b="1" dirty="0"/>
            </a:br>
            <a:r>
              <a:rPr lang="tr-TR" sz="1200" dirty="0"/>
              <a:t>- </a:t>
            </a:r>
            <a:r>
              <a:rPr lang="tr-TR" sz="1200" b="1" dirty="0"/>
              <a:t>Succes: {{S7_SUCCESS}}%</a:t>
            </a:r>
            <a:br>
              <a:rPr lang="tr-TR" sz="1100" dirty="0"/>
            </a:br>
            <a:endParaRPr lang="tr-TR" sz="1100" dirty="0">
              <a:solidFill>
                <a:srgbClr val="1D1C1D"/>
              </a:solidFill>
              <a:latin typeface="Slack-Lato"/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9CFBA-0459-59B5-9D69-A4BED412C74A}"/>
              </a:ext>
            </a:extLst>
          </p:cNvPr>
          <p:cNvSpPr txBox="1"/>
          <p:nvPr/>
        </p:nvSpPr>
        <p:spPr>
          <a:xfrm>
            <a:off x="9931812" y="2486646"/>
            <a:ext cx="22601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Turkbet chatbot;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{{S7_BOT_ONLY}}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{{S7_BOT_TO_AGENT}}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{{S7_BOT_PCT}}</a:t>
            </a:r>
            <a:r>
              <a:rPr lang="tr-TR" sz="1200" b="1" dirty="0"/>
              <a:t>%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21E69-ED23-42CA-2062-7B9FB4C7D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60903"/>
            <a:ext cx="9451818" cy="319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1FB8-230F-18E3-D9F2-382EFDC6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A1C0C77-B1FC-C5CB-D685-65412110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951" y="-755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285759-AE07-5777-EE50-3AB113623453}"/>
              </a:ext>
            </a:extLst>
          </p:cNvPr>
          <p:cNvSpPr txBox="1">
            <a:spLocks/>
          </p:cNvSpPr>
          <p:nvPr/>
        </p:nvSpPr>
        <p:spPr>
          <a:xfrm>
            <a:off x="1212979" y="2341982"/>
            <a:ext cx="4898572" cy="132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5A865-F1ED-E3B6-DEF2-B3CF50CC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26" name="Title 6">
            <a:extLst>
              <a:ext uri="{FF2B5EF4-FFF2-40B4-BE49-F238E27FC236}">
                <a16:creationId xmlns:a16="http://schemas.microsoft.com/office/drawing/2014/main" id="{11276ADC-2A4C-6856-4AAA-9CBFB953FB4C}"/>
              </a:ext>
            </a:extLst>
          </p:cNvPr>
          <p:cNvSpPr txBox="1">
            <a:spLocks/>
          </p:cNvSpPr>
          <p:nvPr/>
        </p:nvSpPr>
        <p:spPr>
          <a:xfrm>
            <a:off x="5084278" y="561841"/>
            <a:ext cx="3151187" cy="350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400" b="1" dirty="0">
                <a:latin typeface="+mn-lt"/>
              </a:rPr>
              <a:t>Top 10 </a:t>
            </a:r>
            <a:r>
              <a:rPr lang="tr-TR" sz="2400" b="1" dirty="0" err="1">
                <a:latin typeface="+mn-lt"/>
              </a:rPr>
              <a:t>Tags</a:t>
            </a:r>
            <a:endParaRPr lang="en-US" sz="2400" b="1" dirty="0">
              <a:latin typeface="+mn-lt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6568327C-7D4C-7070-954D-A357C319131C}"/>
              </a:ext>
            </a:extLst>
          </p:cNvPr>
          <p:cNvSpPr txBox="1"/>
          <p:nvPr/>
        </p:nvSpPr>
        <p:spPr>
          <a:xfrm>
            <a:off x="4764887" y="4049185"/>
            <a:ext cx="210438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Top 10 Chat </a:t>
            </a:r>
            <a:r>
              <a:rPr lang="tr-TR" sz="1300" b="1" dirty="0" err="1">
                <a:solidFill>
                  <a:srgbClr val="1D1C1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alibri" panose="020F0502020204030204" pitchFamily="34" charset="0"/>
              </a:rPr>
              <a:t>Tags</a:t>
            </a:r>
            <a:endParaRPr lang="tr-TR" sz="1300" b="1" dirty="0">
              <a:solidFill>
                <a:srgbClr val="1D1C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E1ADD5C1-1F2E-0123-6645-215D3BC59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035424"/>
            <a:ext cx="2545976" cy="254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7A158-BF29-A36E-2419-155C8383A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793" y="51573"/>
            <a:ext cx="2189074" cy="5251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8179A3-17F5-94D2-8ED3-76F400865A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769" y="-100248"/>
            <a:ext cx="2594501" cy="831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D0E916-BF3D-69D5-0425-4BABB09F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65" y="22798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0B4F12-CB3C-CD96-B5DD-3BB1163B5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04432"/>
              </p:ext>
            </p:extLst>
          </p:nvPr>
        </p:nvGraphicFramePr>
        <p:xfrm>
          <a:off x="4227670" y="4366783"/>
          <a:ext cx="2641600" cy="1905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63034486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9423086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VIP TIER3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85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wd_check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4179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deposit_check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806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goodwill_query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065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deposit_missing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145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deposit_issue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857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sport_cashback_query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371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wd_missing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35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casino_cashback_query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936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free_spin_query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1144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CE23959-9B23-0132-F743-A856D1FF7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70" y="1184636"/>
            <a:ext cx="10151491" cy="27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8E6B-298A-0B7E-2709-AB62487388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6930" y="688381"/>
            <a:ext cx="7120875" cy="3378891"/>
          </a:xfrm>
        </p:spPr>
        <p:txBody>
          <a:bodyPr>
            <a:normAutofit/>
          </a:bodyPr>
          <a:lstStyle/>
          <a:p>
            <a:pPr algn="l">
              <a:lnSpc>
                <a:spcPts val="1350"/>
              </a:lnSpc>
            </a:pPr>
            <a:br>
              <a:rPr lang="tr-TR" sz="1300" dirty="0">
                <a:solidFill>
                  <a:schemeClr val="tx1"/>
                </a:solidFill>
              </a:rPr>
            </a:br>
            <a:br>
              <a:rPr lang="tr-TR" sz="1300" dirty="0">
                <a:solidFill>
                  <a:schemeClr val="tx1"/>
                </a:solidFill>
              </a:rPr>
            </a:br>
            <a:br>
              <a:rPr lang="tr-TR" sz="1300" dirty="0">
                <a:solidFill>
                  <a:schemeClr val="tx1"/>
                </a:solidFill>
              </a:rPr>
            </a:br>
            <a:r>
              <a:rPr lang="tr-TR" sz="1300" dirty="0">
                <a:solidFill>
                  <a:schemeClr val="tx1"/>
                </a:solidFill>
              </a:rPr>
              <a:t>- </a:t>
            </a:r>
            <a:r>
              <a:rPr lang="en-US" sz="1300" dirty="0">
                <a:solidFill>
                  <a:schemeClr val="tx1"/>
                </a:solidFill>
              </a:rPr>
              <a:t>Solved E-mails</a:t>
            </a:r>
            <a:r>
              <a:rPr lang="tr-TR" sz="1300" dirty="0">
                <a:solidFill>
                  <a:schemeClr val="tx1"/>
                </a:solidFill>
              </a:rPr>
              <a:t> for </a:t>
            </a:r>
            <a:r>
              <a:rPr lang="tr-TR" sz="1300" b="1" dirty="0">
                <a:solidFill>
                  <a:srgbClr val="0070C0"/>
                </a:solidFill>
              </a:rPr>
              <a:t>SUPERBETIN </a:t>
            </a:r>
            <a:r>
              <a:rPr lang="en-US" sz="1300" dirty="0"/>
              <a:t>: </a:t>
            </a:r>
            <a:r>
              <a:rPr lang="tr-TR" sz="1300" dirty="0"/>
              <a:t>{{S9_EMAIL_SB_COUNT}}</a:t>
            </a:r>
            <a:r>
              <a:rPr lang="tr-TR" sz="1300" dirty="0">
                <a:solidFill>
                  <a:schemeClr val="tx1"/>
                </a:solidFill>
              </a:rPr>
              <a:t> </a:t>
            </a:r>
            <a:r>
              <a:rPr lang="en-US" sz="1300" dirty="0">
                <a:solidFill>
                  <a:schemeClr val="tx1"/>
                </a:solidFill>
              </a:rPr>
              <a:t>/ </a:t>
            </a:r>
            <a:r>
              <a:rPr lang="tr-TR" sz="1300" dirty="0">
                <a:solidFill>
                  <a:schemeClr val="tx1"/>
                </a:solidFill>
              </a:rPr>
              <a:t>First resolution time median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  <a:r>
              <a:rPr lang="tr-TR" sz="1300" dirty="0">
                <a:solidFill>
                  <a:schemeClr val="tx1"/>
                </a:solidFill>
              </a:rPr>
              <a:t> {{S9_EMAIL_SB_TIME}}</a:t>
            </a:r>
            <a:br>
              <a:rPr lang="tr-TR" sz="1300" dirty="0">
                <a:solidFill>
                  <a:schemeClr val="tx1"/>
                </a:solidFill>
              </a:rPr>
            </a:br>
            <a:r>
              <a:rPr lang="tr-TR" sz="1300" dirty="0">
                <a:solidFill>
                  <a:schemeClr val="tx1"/>
                </a:solidFill>
              </a:rPr>
              <a:t>- Solved E-mails for </a:t>
            </a:r>
            <a:r>
              <a:rPr lang="tr-TR" sz="1300" b="1" dirty="0">
                <a:solidFill>
                  <a:srgbClr val="7030A0"/>
                </a:solidFill>
              </a:rPr>
              <a:t>BETSAT </a:t>
            </a:r>
            <a:r>
              <a:rPr lang="tr-TR" sz="1300" dirty="0">
                <a:solidFill>
                  <a:schemeClr val="tx1"/>
                </a:solidFill>
              </a:rPr>
              <a:t>: {{S9_EMAIL_BS_COUNT}} / First resolution time median: {{S9_EMAIL_BS_TIME}}</a:t>
            </a:r>
            <a:br>
              <a:rPr lang="tr-TR" sz="1300" dirty="0"/>
            </a:br>
            <a:r>
              <a:rPr lang="en-US" sz="1300" dirty="0">
                <a:solidFill>
                  <a:schemeClr val="tx1"/>
                </a:solidFill>
              </a:rPr>
              <a:t>- Solved E-mails</a:t>
            </a:r>
            <a:r>
              <a:rPr lang="tr-TR" sz="1300" dirty="0">
                <a:solidFill>
                  <a:schemeClr val="tx1"/>
                </a:solidFill>
              </a:rPr>
              <a:t> for </a:t>
            </a:r>
            <a:r>
              <a:rPr lang="tr-TR" sz="1300" b="1" dirty="0">
                <a:solidFill>
                  <a:srgbClr val="FF0000"/>
                </a:solidFill>
              </a:rPr>
              <a:t>TURKBET </a:t>
            </a:r>
            <a:r>
              <a:rPr lang="en-US" sz="1300" dirty="0"/>
              <a:t>:</a:t>
            </a:r>
            <a:r>
              <a:rPr lang="tr-TR" sz="1300" dirty="0"/>
              <a:t> {{S9_EMAIL_TB_COUNT}} </a:t>
            </a:r>
            <a:r>
              <a:rPr lang="en-US" sz="1300" dirty="0">
                <a:solidFill>
                  <a:schemeClr val="tx1"/>
                </a:solidFill>
              </a:rPr>
              <a:t>/ First resolution time median</a:t>
            </a:r>
            <a:r>
              <a:rPr lang="tr-TR" sz="1300" dirty="0">
                <a:solidFill>
                  <a:schemeClr val="tx1"/>
                </a:solidFill>
              </a:rPr>
              <a:t> : {{S9_EMAIL_TB_TIME}}</a:t>
            </a:r>
            <a:br>
              <a:rPr lang="tr-TR" sz="1300" dirty="0">
                <a:solidFill>
                  <a:schemeClr val="tx1"/>
                </a:solidFill>
              </a:rPr>
            </a:br>
            <a:br>
              <a:rPr lang="en-US" sz="1100" dirty="0"/>
            </a:br>
            <a:endParaRPr lang="tr-TR" sz="1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572987-E77E-52DF-42E5-F2EA6C468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951" y="-755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33218E-3C27-C56C-4F2F-8563C8193825}"/>
              </a:ext>
            </a:extLst>
          </p:cNvPr>
          <p:cNvSpPr txBox="1">
            <a:spLocks/>
          </p:cNvSpPr>
          <p:nvPr/>
        </p:nvSpPr>
        <p:spPr>
          <a:xfrm>
            <a:off x="1212979" y="2341982"/>
            <a:ext cx="4898572" cy="132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DEE8A-F4E8-D09A-B86C-6F2C753C8959}"/>
              </a:ext>
            </a:extLst>
          </p:cNvPr>
          <p:cNvSpPr txBox="1"/>
          <p:nvPr/>
        </p:nvSpPr>
        <p:spPr>
          <a:xfrm>
            <a:off x="82916" y="4190323"/>
            <a:ext cx="29253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500" dirty="0"/>
              <a:t>Desired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Response Time : Max. 45s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Chat Duration : Max. 9m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Satisfaction : Min.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(Served) : Max. 40s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</a:t>
            </a:r>
            <a:r>
              <a:rPr lang="tr-TR" sz="1500" dirty="0" err="1"/>
              <a:t>Missed</a:t>
            </a:r>
            <a:r>
              <a:rPr lang="tr-TR" sz="1500" dirty="0"/>
              <a:t>) : Max. 60s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Acceptance : Min. %95</a:t>
            </a:r>
          </a:p>
          <a:p>
            <a:endParaRPr lang="tr-TR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EAA4B-A4B1-D467-B669-DE531BD37AEF}"/>
              </a:ext>
            </a:extLst>
          </p:cNvPr>
          <p:cNvSpPr txBox="1"/>
          <p:nvPr/>
        </p:nvSpPr>
        <p:spPr>
          <a:xfrm>
            <a:off x="4062557" y="4072094"/>
            <a:ext cx="292533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sz="1500" dirty="0"/>
              <a:t>Yesterday’s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Response Time : </a:t>
            </a:r>
            <a:r>
              <a:rPr lang="tr-TR" sz="1500" dirty="0">
                <a:solidFill>
                  <a:srgbClr val="00B050"/>
                </a:solidFill>
              </a:rPr>
              <a:t>{{S9_RESPONSE}}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Chat Duration : </a:t>
            </a:r>
            <a:r>
              <a:rPr lang="tr-TR" sz="1500" dirty="0">
                <a:solidFill>
                  <a:srgbClr val="00B050"/>
                </a:solidFill>
              </a:rPr>
              <a:t>{{S9_DURATION}}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Satisfaction :</a:t>
            </a:r>
            <a:r>
              <a:rPr lang="tr-TR" sz="1500" dirty="0">
                <a:solidFill>
                  <a:srgbClr val="00B050"/>
                </a:solidFill>
              </a:rPr>
              <a:t> {{S9_SATISFACTION}}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(Served) :</a:t>
            </a:r>
            <a:r>
              <a:rPr lang="tr-TR" sz="1500" dirty="0">
                <a:solidFill>
                  <a:srgbClr val="FF0000"/>
                </a:solidFill>
              </a:rPr>
              <a:t> </a:t>
            </a:r>
            <a:r>
              <a:rPr lang="tr-TR" sz="1400" dirty="0">
                <a:solidFill>
                  <a:srgbClr val="FF0000"/>
                </a:solidFill>
              </a:rPr>
              <a:t> {{S9_WAIT_SERVED}}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(Missed) </a:t>
            </a:r>
            <a:r>
              <a:rPr lang="tr-TR" sz="1500" b="1" dirty="0"/>
              <a:t>: </a:t>
            </a:r>
            <a:r>
              <a:rPr lang="tr-TR" sz="1500" dirty="0">
                <a:solidFill>
                  <a:srgbClr val="FF0000"/>
                </a:solidFill>
              </a:rPr>
              <a:t>{{S9_WAIT_MISSED}}</a:t>
            </a:r>
            <a:r>
              <a:rPr lang="tr-TR" sz="1400" dirty="0">
                <a:solidFill>
                  <a:srgbClr val="FF0000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Acceptance : </a:t>
            </a:r>
            <a:r>
              <a:rPr lang="tr-TR" sz="1500" dirty="0">
                <a:solidFill>
                  <a:srgbClr val="00B050"/>
                </a:solidFill>
              </a:rPr>
              <a:t>{{S9_ACCEPTANCE}}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Rated Chats :</a:t>
            </a:r>
            <a:r>
              <a:rPr lang="tr-TR" sz="1500" dirty="0">
                <a:solidFill>
                  <a:srgbClr val="00B050"/>
                </a:solidFill>
              </a:rPr>
              <a:t> {{S9_RATED_PCT}}</a:t>
            </a:r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239CE-06B1-1285-BE60-F71B9B93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C617C-B04F-88F4-7C49-52779A3DB397}"/>
              </a:ext>
            </a:extLst>
          </p:cNvPr>
          <p:cNvSpPr txBox="1"/>
          <p:nvPr/>
        </p:nvSpPr>
        <p:spPr>
          <a:xfrm>
            <a:off x="4370201" y="2488591"/>
            <a:ext cx="261769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 -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300" b="1" dirty="0">
                <a:solidFill>
                  <a:srgbClr val="7030A0"/>
                </a:solidFill>
              </a:rPr>
              <a:t>BS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{{S9_CALL_BS_ATTEMPTS}}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{{S9_CALL_BS_REACHED}}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{{S9_CALL_BS_REACHED_PCT}}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: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{{S9_CALL_BS_NOTREACHED}}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{{S9_CALL_BS_NOTREACHED_PCT}}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endParaRPr lang="tr-TR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8CF78-5C2D-B116-2143-08ABE5E84DDC}"/>
              </a:ext>
            </a:extLst>
          </p:cNvPr>
          <p:cNvSpPr txBox="1"/>
          <p:nvPr/>
        </p:nvSpPr>
        <p:spPr>
          <a:xfrm>
            <a:off x="233045" y="2505189"/>
            <a:ext cx="2617694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dirty="0">
                <a:latin typeface="+mn-lt"/>
              </a:rPr>
              <a:t>- 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400" b="1" dirty="0">
                <a:solidFill>
                  <a:srgbClr val="0070C0"/>
                </a:solidFill>
              </a:rPr>
              <a:t>SB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{{S9_CALL_SB_ATTEMPTS}}</a:t>
            </a:r>
          </a:p>
          <a:p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{{S9_CALL_SB_REACHED}}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({{S9_CALL_SB_REACHED_PCT}})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{{S9_CALL_SB_NOTREACHED}}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({{S9_CALL_SB_NOTREACHED_PCT}})</a:t>
            </a:r>
            <a:endParaRPr lang="tr-TR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CDA54-7A26-3D48-C421-57D7C21DA978}"/>
              </a:ext>
            </a:extLst>
          </p:cNvPr>
          <p:cNvSpPr txBox="1"/>
          <p:nvPr/>
        </p:nvSpPr>
        <p:spPr>
          <a:xfrm>
            <a:off x="8218602" y="2488591"/>
            <a:ext cx="25633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-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300" b="1" dirty="0">
                <a:solidFill>
                  <a:srgbClr val="FF0000"/>
                </a:solidFill>
              </a:rPr>
              <a:t>TB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{{S9_CALL_TB_ATTEMPTS}}</a:t>
            </a:r>
            <a:endParaRPr lang="tr-TR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{{S9_CALL_TB_REACHED}} 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{{S9_CALL_TB_REACHED_PCT}}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:</a:t>
            </a:r>
            <a:r>
              <a:rPr lang="tr-TR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{{S9_CALL_TB_NOTREACHED}}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({{S9_CALL_TB_NOTREACHED_PCT}})</a:t>
            </a:r>
            <a:endParaRPr lang="tr-TR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5DFDD8-C13F-0EDD-2774-F75B0276F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513" y="-119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50ACC3-139B-F0A1-2BC7-E949ED355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31" y="100101"/>
            <a:ext cx="2189074" cy="525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6A79C-FFAA-437D-5B6A-E7CE7E178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4" y="-91310"/>
            <a:ext cx="3120752" cy="9079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FA42B7-3DFF-99AB-861F-7327B1443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/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0442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111367</TotalTime>
  <Words>767</Words>
  <Application>Microsoft Office PowerPoint</Application>
  <PresentationFormat>Widescreen</PresentationFormat>
  <Paragraphs>83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Narrow</vt:lpstr>
      <vt:lpstr>Arial</vt:lpstr>
      <vt:lpstr>Calibri</vt:lpstr>
      <vt:lpstr>Calibri Light</vt:lpstr>
      <vt:lpstr>Menlo</vt:lpstr>
      <vt:lpstr>Slack-Lato</vt:lpstr>
      <vt:lpstr>Retrospect</vt:lpstr>
      <vt:lpstr>PowerPoint Presentation</vt:lpstr>
      <vt:lpstr>Missed Chats</vt:lpstr>
      <vt:lpstr>Response Time and Chat Duration  </vt:lpstr>
      <vt:lpstr> Chatbot Statistics </vt:lpstr>
      <vt:lpstr>Missed Chat</vt:lpstr>
      <vt:lpstr>Missed Chat</vt:lpstr>
      <vt:lpstr>Missed Chat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tbsabri</dc:creator>
  <cp:lastModifiedBy>Emre Dean</cp:lastModifiedBy>
  <cp:revision>4340</cp:revision>
  <cp:lastPrinted>2023-11-23T08:04:37Z</cp:lastPrinted>
  <dcterms:created xsi:type="dcterms:W3CDTF">2023-11-23T06:48:26Z</dcterms:created>
  <dcterms:modified xsi:type="dcterms:W3CDTF">2026-07-07T02:31:46Z</dcterms:modified>
</cp:coreProperties>
</file>